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79" r:id="rId2"/>
    <p:sldId id="349" r:id="rId3"/>
    <p:sldId id="350" r:id="rId4"/>
    <p:sldId id="351" r:id="rId5"/>
    <p:sldId id="352" r:id="rId6"/>
    <p:sldId id="353" r:id="rId7"/>
    <p:sldId id="354" r:id="rId8"/>
    <p:sldId id="356" r:id="rId9"/>
    <p:sldId id="357" r:id="rId10"/>
    <p:sldId id="358" r:id="rId11"/>
    <p:sldId id="359" r:id="rId12"/>
    <p:sldId id="362" r:id="rId13"/>
    <p:sldId id="360" r:id="rId14"/>
    <p:sldId id="267" r:id="rId15"/>
    <p:sldId id="268" r:id="rId16"/>
    <p:sldId id="269" r:id="rId17"/>
    <p:sldId id="270" r:id="rId18"/>
    <p:sldId id="363" r:id="rId19"/>
    <p:sldId id="364" r:id="rId20"/>
    <p:sldId id="366" r:id="rId21"/>
    <p:sldId id="368" r:id="rId22"/>
    <p:sldId id="367" r:id="rId23"/>
    <p:sldId id="361" r:id="rId24"/>
    <p:sldId id="276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73793"/>
  </p:normalViewPr>
  <p:slideViewPr>
    <p:cSldViewPr snapToGrid="0">
      <p:cViewPr varScale="1">
        <p:scale>
          <a:sx n="118" d="100"/>
          <a:sy n="118" d="100"/>
        </p:scale>
        <p:origin x="4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753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BDF500-FE05-4D50-AB42-37EDEB80A6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32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A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104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A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6175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A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3651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739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A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1738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A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8400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3C8F4-2857-D090-B70C-5DB287A88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8A07D4-750F-AD3D-1806-197046EDF7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9F727A-45D9-C2F7-49CE-9C0FA5731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8311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BC66E-373D-E479-FDF6-7FBF6EBCE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301A5F-A7DF-2021-0681-44E9BA0B0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4BBFAD-BD83-E343-A6FF-23EF153B8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2209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ED86C-CC7E-22D2-BCF5-55A429AC7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99F4C8-B96E-2B4E-AE96-4586A25C80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611FD-0B7A-888C-2E28-765D5ABCF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39076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00B00-AD89-AF6E-8FDE-3BE1BE67A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0F2F8-925A-3A35-31D8-D6B54DEE4C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A50E48-9DBF-7B08-2040-D37AB8E42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A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848177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2B30F-5587-2ECC-28A8-38BE40540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D2C75-D056-33B7-72B8-26AAC5CB5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20E1F-F430-8359-7B38-C25797F40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A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74225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3C8F4-2857-D090-B70C-5DB287A88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8A07D4-750F-AD3D-1806-197046EDF7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9F727A-45D9-C2F7-49CE-9C0FA5731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8311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118974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627232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280251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579769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039916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9798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Title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7561" y="3050961"/>
            <a:ext cx="8028880" cy="630000"/>
          </a:xfrm>
        </p:spPr>
        <p:txBody>
          <a:bodyPr anchor="t">
            <a:normAutofit/>
          </a:bodyPr>
          <a:lstStyle>
            <a:lvl1pPr algn="ctr">
              <a:defRPr sz="3200" b="1">
                <a:solidFill>
                  <a:schemeClr val="tx2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561" y="3861255"/>
            <a:ext cx="8028880" cy="331604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2">
                    <a:lumMod val="50000"/>
                  </a:schemeClr>
                </a:solidFill>
                <a:latin typeface="+mj-lt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114DE5C-8080-5C46-A6FD-CE21845CBC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4245188"/>
            <a:ext cx="6858000" cy="223295"/>
          </a:xfrm>
        </p:spPr>
        <p:txBody>
          <a:bodyPr>
            <a:noAutofit/>
          </a:bodyPr>
          <a:lstStyle>
            <a:lvl1pPr marL="0" indent="0" algn="ctr">
              <a:buNone/>
              <a:defRPr sz="1200">
                <a:solidFill>
                  <a:schemeClr val="tx2">
                    <a:lumMod val="50000"/>
                  </a:schemeClr>
                </a:solidFill>
              </a:defRPr>
            </a:lvl1pPr>
            <a:lvl2pPr marL="342892" indent="0" algn="ctr">
              <a:buNone/>
              <a:defRPr sz="1000">
                <a:solidFill>
                  <a:schemeClr val="bg2"/>
                </a:solidFill>
              </a:defRPr>
            </a:lvl2pPr>
            <a:lvl3pPr marL="685783" indent="0" algn="ctr">
              <a:buNone/>
              <a:defRPr sz="1000">
                <a:solidFill>
                  <a:schemeClr val="bg2"/>
                </a:solidFill>
              </a:defRPr>
            </a:lvl3pPr>
            <a:lvl4pPr marL="1028675" indent="0" algn="ctr">
              <a:buNone/>
              <a:defRPr sz="1000">
                <a:solidFill>
                  <a:schemeClr val="bg2"/>
                </a:solidFill>
              </a:defRPr>
            </a:lvl4pPr>
            <a:lvl5pPr marL="1371566" indent="0" algn="ctr">
              <a:buNone/>
              <a:defRPr sz="10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DEPARMENT TITLE GOES HERE</a:t>
            </a:r>
            <a:endParaRPr lang="en-US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DC9F3277-BCA4-2048-8982-0ECFBCEE7E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3000" y="4447499"/>
            <a:ext cx="6858000" cy="223295"/>
          </a:xfrm>
        </p:spPr>
        <p:txBody>
          <a:bodyPr>
            <a:noAutofit/>
          </a:bodyPr>
          <a:lstStyle>
            <a:lvl1pPr marL="0" indent="0" algn="ctr">
              <a:buNone/>
              <a:defRPr sz="1200">
                <a:solidFill>
                  <a:schemeClr val="tx2">
                    <a:lumMod val="50000"/>
                  </a:schemeClr>
                </a:solidFill>
              </a:defRPr>
            </a:lvl1pPr>
            <a:lvl2pPr marL="342892" indent="0" algn="ctr">
              <a:buNone/>
              <a:defRPr sz="1000">
                <a:solidFill>
                  <a:schemeClr val="bg2"/>
                </a:solidFill>
              </a:defRPr>
            </a:lvl2pPr>
            <a:lvl3pPr marL="685783" indent="0" algn="ctr">
              <a:buNone/>
              <a:defRPr sz="1000">
                <a:solidFill>
                  <a:schemeClr val="bg2"/>
                </a:solidFill>
              </a:defRPr>
            </a:lvl3pPr>
            <a:lvl4pPr marL="1028675" indent="0" algn="ctr">
              <a:buNone/>
              <a:defRPr sz="1000">
                <a:solidFill>
                  <a:schemeClr val="bg2"/>
                </a:solidFill>
              </a:defRPr>
            </a:lvl4pPr>
            <a:lvl5pPr marL="1371566" indent="0" algn="ctr">
              <a:buNone/>
              <a:defRPr sz="10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PRESENTER NAME</a:t>
            </a:r>
            <a:endParaRPr lang="en-US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9FFC349A-F95C-A740-8D49-880377A16A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3000" y="4639489"/>
            <a:ext cx="6858000" cy="223295"/>
          </a:xfrm>
        </p:spPr>
        <p:txBody>
          <a:bodyPr>
            <a:noAutofit/>
          </a:bodyPr>
          <a:lstStyle>
            <a:lvl1pPr marL="0" indent="0" algn="ctr">
              <a:buNone/>
              <a:defRPr sz="1200">
                <a:solidFill>
                  <a:schemeClr val="tx2">
                    <a:lumMod val="50000"/>
                  </a:schemeClr>
                </a:solidFill>
              </a:defRPr>
            </a:lvl1pPr>
            <a:lvl2pPr marL="342892" indent="0" algn="ctr">
              <a:buNone/>
              <a:defRPr sz="1000">
                <a:solidFill>
                  <a:schemeClr val="bg2"/>
                </a:solidFill>
              </a:defRPr>
            </a:lvl2pPr>
            <a:lvl3pPr marL="685783" indent="0" algn="ctr">
              <a:buNone/>
              <a:defRPr sz="1000">
                <a:solidFill>
                  <a:schemeClr val="bg2"/>
                </a:solidFill>
              </a:defRPr>
            </a:lvl3pPr>
            <a:lvl4pPr marL="1028675" indent="0" algn="ctr">
              <a:buNone/>
              <a:defRPr sz="1000">
                <a:solidFill>
                  <a:schemeClr val="bg2"/>
                </a:solidFill>
              </a:defRPr>
            </a:lvl4pPr>
            <a:lvl5pPr marL="1371566" indent="0" algn="ctr">
              <a:buNone/>
              <a:defRPr sz="10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00 MONTH, 0000</a:t>
            </a:r>
            <a:endParaRPr lang="en-US"/>
          </a:p>
        </p:txBody>
      </p:sp>
      <p:sp>
        <p:nvSpPr>
          <p:cNvPr id="46" name="Footer Placeholder 4">
            <a:extLst>
              <a:ext uri="{FF2B5EF4-FFF2-40B4-BE49-F238E27FC236}">
                <a16:creationId xmlns:a16="http://schemas.microsoft.com/office/drawing/2014/main" id="{62714FFD-C328-D443-9C70-818983BFFED8}"/>
              </a:ext>
            </a:extLst>
          </p:cNvPr>
          <p:cNvSpPr txBox="1">
            <a:spLocks/>
          </p:cNvSpPr>
          <p:nvPr userDrawn="1"/>
        </p:nvSpPr>
        <p:spPr>
          <a:xfrm>
            <a:off x="-44603" y="-59472"/>
            <a:ext cx="416942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" b="0">
                <a:solidFill>
                  <a:schemeClr val="bg1">
                    <a:lumMod val="65000"/>
                  </a:schemeClr>
                </a:solidFill>
                <a:latin typeface="+mj-lt"/>
              </a:rPr>
              <a:t>CRICOS Provider No. 00300K (NT/VIC) I 03286A (NSW) | RTO Provider No. 0373</a:t>
            </a:r>
          </a:p>
        </p:txBody>
      </p:sp>
    </p:spTree>
    <p:extLst>
      <p:ext uri="{BB962C8B-B14F-4D97-AF65-F5344CB8AC3E}">
        <p14:creationId xmlns:p14="http://schemas.microsoft.com/office/powerpoint/2010/main" val="732980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CAC01DD-C5D2-2743-A861-E23185D50B7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02571" y="1378864"/>
            <a:ext cx="8211620" cy="3398762"/>
          </a:xfrm>
        </p:spPr>
        <p:txBody>
          <a:bodyPr lIns="90000"/>
          <a:lstStyle>
            <a:lvl1pPr marL="269993" indent="-269993">
              <a:lnSpc>
                <a:spcPct val="100000"/>
              </a:lnSpc>
              <a:defRPr sz="2600">
                <a:solidFill>
                  <a:schemeClr val="tx1"/>
                </a:solidFill>
                <a:latin typeface="+mj-lt"/>
              </a:defRPr>
            </a:lvl1pPr>
            <a:lvl2pPr marL="683983" indent="-287993">
              <a:lnSpc>
                <a:spcPct val="100000"/>
              </a:lnSpc>
              <a:defRPr sz="2300">
                <a:latin typeface="+mj-lt"/>
              </a:defRPr>
            </a:lvl2pPr>
            <a:lvl3pPr marL="1037224" indent="-280793">
              <a:lnSpc>
                <a:spcPct val="100000"/>
              </a:lnSpc>
              <a:defRPr sz="1800">
                <a:latin typeface="+mj-lt"/>
              </a:defRPr>
            </a:lvl3pPr>
            <a:lvl4pPr marL="1331967" indent="-259193">
              <a:lnSpc>
                <a:spcPct val="100000"/>
              </a:lnSpc>
              <a:defRPr sz="1500">
                <a:latin typeface="+mj-lt"/>
              </a:defRPr>
            </a:lvl4pPr>
            <a:lvl5pPr marL="1579010" indent="-251994">
              <a:lnSpc>
                <a:spcPct val="100000"/>
              </a:lnSpc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95911817-749B-AB42-85A4-B5CC2E1EE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4752195"/>
            <a:ext cx="351137" cy="273844"/>
          </a:xfrm>
        </p:spPr>
        <p:txBody>
          <a:bodyPr/>
          <a:lstStyle>
            <a:lvl1pPr>
              <a:defRPr sz="800">
                <a:solidFill>
                  <a:schemeClr val="bg2"/>
                </a:solidFill>
              </a:defRPr>
            </a:lvl1pPr>
          </a:lstStyle>
          <a:p>
            <a:fld id="{6AA10EC0-CC52-A246-A2C3-81389B6F8C6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0367C9-0E35-4043-AD9A-7FEB2A7ED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574" y="478058"/>
            <a:ext cx="7362077" cy="789958"/>
          </a:xfrm>
        </p:spPr>
        <p:txBody>
          <a:bodyPr/>
          <a:lstStyle>
            <a:lvl1pPr>
              <a:defRPr lang="en-GB" sz="2700" b="1" kern="1200" dirty="0">
                <a:solidFill>
                  <a:srgbClr val="2C2157"/>
                </a:solidFill>
                <a:effectLst/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929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DIrxi1R78y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niteshS394811/S226-PRT661-DATA-SCIENCE-PRACTICE.gi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4">
            <a:extLst>
              <a:ext uri="{FF2B5EF4-FFF2-40B4-BE49-F238E27FC236}">
                <a16:creationId xmlns:a16="http://schemas.microsoft.com/office/drawing/2014/main" id="{8CA13569-B1C2-DAB2-9030-553C796BBB1A}"/>
              </a:ext>
            </a:extLst>
          </p:cNvPr>
          <p:cNvSpPr/>
          <p:nvPr/>
        </p:nvSpPr>
        <p:spPr>
          <a:xfrm>
            <a:off x="410374" y="3364845"/>
            <a:ext cx="3749040" cy="330696"/>
          </a:xfrm>
          <a:prstGeom prst="rect">
            <a:avLst/>
          </a:prstGeom>
          <a:solidFill>
            <a:srgbClr val="1C3F6E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A7E23BE8-3464-7C5D-C609-6B47E20CDDF0}"/>
              </a:ext>
            </a:extLst>
          </p:cNvPr>
          <p:cNvSpPr/>
          <p:nvPr/>
        </p:nvSpPr>
        <p:spPr>
          <a:xfrm>
            <a:off x="547534" y="3456801"/>
            <a:ext cx="3566160" cy="1268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imes New Roman"/>
                <a:cs typeface="Times New Roman"/>
              </a:rPr>
              <a:t>Dipesh </a:t>
            </a:r>
            <a:r>
              <a:rPr lang="en-US" sz="1200" b="1" err="1">
                <a:solidFill>
                  <a:srgbClr val="FFFFFF"/>
                </a:solidFill>
                <a:latin typeface="Times New Roman"/>
                <a:cs typeface="Times New Roman"/>
              </a:rPr>
              <a:t>Sedhai</a:t>
            </a:r>
            <a:r>
              <a:rPr lang="en-US" sz="1200" b="1">
                <a:solidFill>
                  <a:srgbClr val="FFFFFF"/>
                </a:solidFill>
                <a:latin typeface="Times New Roman"/>
                <a:cs typeface="Times New Roman"/>
              </a:rPr>
              <a:t> (S395457)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7E034D98-847C-8CD9-DF6A-73CB613EB9CD}"/>
              </a:ext>
            </a:extLst>
          </p:cNvPr>
          <p:cNvSpPr/>
          <p:nvPr/>
        </p:nvSpPr>
        <p:spPr>
          <a:xfrm>
            <a:off x="410374" y="3782224"/>
            <a:ext cx="3749040" cy="335305"/>
          </a:xfrm>
          <a:prstGeom prst="rect">
            <a:avLst/>
          </a:prstGeom>
          <a:solidFill>
            <a:srgbClr val="1C3F6E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02598C2B-CEBB-CA81-DB0A-C97D72D96B01}"/>
              </a:ext>
            </a:extLst>
          </p:cNvPr>
          <p:cNvSpPr/>
          <p:nvPr/>
        </p:nvSpPr>
        <p:spPr>
          <a:xfrm>
            <a:off x="547534" y="3883398"/>
            <a:ext cx="3566160" cy="131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imes New Roman"/>
                <a:cs typeface="Times New Roman"/>
              </a:rPr>
              <a:t>Roshan Kumar Shrestha (S395498)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3ADEB53E-F706-428C-C5A2-879CED225CDC}"/>
              </a:ext>
            </a:extLst>
          </p:cNvPr>
          <p:cNvSpPr/>
          <p:nvPr/>
        </p:nvSpPr>
        <p:spPr>
          <a:xfrm>
            <a:off x="4616614" y="3364845"/>
            <a:ext cx="3749040" cy="330696"/>
          </a:xfrm>
          <a:prstGeom prst="rect">
            <a:avLst/>
          </a:prstGeom>
          <a:solidFill>
            <a:srgbClr val="1C3F6E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4618D8B9-2630-A98E-21FC-98478B325F26}"/>
              </a:ext>
            </a:extLst>
          </p:cNvPr>
          <p:cNvSpPr/>
          <p:nvPr/>
        </p:nvSpPr>
        <p:spPr>
          <a:xfrm>
            <a:off x="4753774" y="3466019"/>
            <a:ext cx="3566160" cy="1268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imes New Roman"/>
                <a:cs typeface="Times New Roman"/>
              </a:rPr>
              <a:t>Dilliram Dhakal (S396633)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46" name="Shape 13">
            <a:extLst>
              <a:ext uri="{FF2B5EF4-FFF2-40B4-BE49-F238E27FC236}">
                <a16:creationId xmlns:a16="http://schemas.microsoft.com/office/drawing/2014/main" id="{92C71DE2-3A90-84F4-23E4-4BA266D09CDD}"/>
              </a:ext>
            </a:extLst>
          </p:cNvPr>
          <p:cNvSpPr/>
          <p:nvPr/>
        </p:nvSpPr>
        <p:spPr>
          <a:xfrm>
            <a:off x="4616614" y="3782224"/>
            <a:ext cx="3749040" cy="335305"/>
          </a:xfrm>
          <a:prstGeom prst="rect">
            <a:avLst/>
          </a:prstGeom>
          <a:solidFill>
            <a:srgbClr val="1C3F6E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1D613E0C-A8A8-6B19-0D01-69D20EEB44E2}"/>
              </a:ext>
            </a:extLst>
          </p:cNvPr>
          <p:cNvSpPr/>
          <p:nvPr/>
        </p:nvSpPr>
        <p:spPr>
          <a:xfrm>
            <a:off x="4753774" y="3883398"/>
            <a:ext cx="3566160" cy="131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imes New Roman"/>
                <a:cs typeface="Times New Roman"/>
              </a:rPr>
              <a:t>Nitesh Raj Chaudhary (S394811) *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B21E22B-E940-4461-1276-C1C2E4F88963}"/>
              </a:ext>
            </a:extLst>
          </p:cNvPr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PRT661 · Data Science Practice Assessment 3</a:t>
            </a:r>
            <a:endParaRPr lang="en-US" sz="16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DA0364A-E7F5-6C9B-92D9-7A3309751679}"/>
              </a:ext>
            </a:extLst>
          </p:cNvPr>
          <p:cNvSpPr/>
          <p:nvPr/>
        </p:nvSpPr>
        <p:spPr>
          <a:xfrm>
            <a:off x="548640" y="13944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NEM Price &amp; Demand Analysis and</a:t>
            </a:r>
            <a:endParaRPr lang="en-US" sz="2800"/>
          </a:p>
          <a:p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System</a:t>
            </a:r>
            <a:endParaRPr lang="en-US" sz="28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5BE0616-2053-3F7B-51F5-0D7E94F29BCD}"/>
              </a:ext>
            </a:extLst>
          </p:cNvPr>
          <p:cNvSpPr/>
          <p:nvPr/>
        </p:nvSpPr>
        <p:spPr>
          <a:xfrm>
            <a:off x="548640" y="2194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ETL · feature engineering · operational &amp; strategic decisions</a:t>
            </a:r>
            <a:endParaRPr lang="en-U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BB6D3F10-A579-2974-F343-D62C20EA9D41}"/>
              </a:ext>
            </a:extLst>
          </p:cNvPr>
          <p:cNvSpPr/>
          <p:nvPr/>
        </p:nvSpPr>
        <p:spPr>
          <a:xfrm>
            <a:off x="548640" y="2743200"/>
            <a:ext cx="2286000" cy="54864"/>
          </a:xfrm>
          <a:prstGeom prst="rect">
            <a:avLst/>
          </a:prstGeom>
          <a:solidFill>
            <a:srgbClr val="C4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39FFB0D8-C21B-19F4-D937-692EF17A44F1}"/>
              </a:ext>
            </a:extLst>
          </p:cNvPr>
          <p:cNvSpPr/>
          <p:nvPr/>
        </p:nvSpPr>
        <p:spPr>
          <a:xfrm>
            <a:off x="410374" y="297862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Danala Group 8  ·  Theme 2  ·  2026</a:t>
            </a:r>
            <a:endParaRPr lang="en-US" sz="1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B8D4C0-9A85-B1C3-4E49-EC69117DD29B}"/>
              </a:ext>
            </a:extLst>
          </p:cNvPr>
          <p:cNvSpPr txBox="1"/>
          <p:nvPr/>
        </p:nvSpPr>
        <p:spPr>
          <a:xfrm>
            <a:off x="323289" y="4172914"/>
            <a:ext cx="3418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3"/>
              </a:rPr>
              <a:t>https://youtu.be/DIrxi1R78ys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0538FF-912C-F727-ABFB-7CED55B2DFE8}"/>
              </a:ext>
            </a:extLst>
          </p:cNvPr>
          <p:cNvSpPr txBox="1"/>
          <p:nvPr/>
        </p:nvSpPr>
        <p:spPr>
          <a:xfrm>
            <a:off x="323289" y="4403746"/>
            <a:ext cx="75144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4"/>
              </a:rPr>
              <a:t>https://github.com/niteshS394811/S226-PRT661-DATA-SCIENCE-PRACTICE.git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87011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82AB7-D213-48E2-77B5-B24A20903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1">
            <a:extLst>
              <a:ext uri="{FF2B5EF4-FFF2-40B4-BE49-F238E27FC236}">
                <a16:creationId xmlns:a16="http://schemas.microsoft.com/office/drawing/2014/main" id="{9982A8EB-41A9-6437-D587-7EDC126B6F73}"/>
              </a:ext>
            </a:extLst>
          </p:cNvPr>
          <p:cNvSpPr/>
          <p:nvPr/>
        </p:nvSpPr>
        <p:spPr>
          <a:xfrm>
            <a:off x="320040" y="109728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>
                <a:latin typeface="Calibri" pitchFamily="34" charset="0"/>
                <a:ea typeface="Calibri" pitchFamily="34" charset="-122"/>
                <a:cs typeface="Calibri" pitchFamily="34" charset="-120"/>
              </a:rPr>
              <a:t>Agenda | Nitesh</a:t>
            </a:r>
            <a:endParaRPr lang="en-US" sz="200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B2683D66-F5C4-3DF4-4D20-FD73B3536336}"/>
              </a:ext>
            </a:extLst>
          </p:cNvPr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latin typeface="Calibri"/>
                <a:ea typeface="Calibri"/>
                <a:cs typeface="Calibri"/>
              </a:rPr>
              <a:t>Danala Group 8  ·  PRT661 Assessment 3  ·  2/24</a:t>
            </a:r>
            <a:endParaRPr lang="en-US" sz="1000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D90682C0-25D3-8936-66DF-239037F94547}"/>
              </a:ext>
            </a:extLst>
          </p:cNvPr>
          <p:cNvSpPr/>
          <p:nvPr/>
        </p:nvSpPr>
        <p:spPr>
          <a:xfrm>
            <a:off x="320040" y="832873"/>
            <a:ext cx="7804364" cy="3089903"/>
          </a:xfrm>
          <a:prstGeom prst="roundRect">
            <a:avLst>
              <a:gd name="adj" fmla="val 1905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E46D3267-9F3A-BA97-4C1A-5A520F463067}"/>
              </a:ext>
            </a:extLst>
          </p:cNvPr>
          <p:cNvSpPr/>
          <p:nvPr/>
        </p:nvSpPr>
        <p:spPr>
          <a:xfrm>
            <a:off x="50292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Problem, planning value &amp; objectives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4E0A9599-2891-A0AD-4033-680F57853694}"/>
              </a:ext>
            </a:extLst>
          </p:cNvPr>
          <p:cNvSpPr/>
          <p:nvPr/>
        </p:nvSpPr>
        <p:spPr>
          <a:xfrm>
            <a:off x="502920" y="1417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Architecture &amp; tools (Docker, Airflow, Postgres)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79A063FC-8326-9796-C318-B2744215B28B}"/>
              </a:ext>
            </a:extLst>
          </p:cNvPr>
          <p:cNvSpPr/>
          <p:nvPr/>
        </p:nvSpPr>
        <p:spPr>
          <a:xfrm>
            <a:off x="502920" y="2011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Raw data → cleaning → feature engineering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E9D2B051-4959-AC6E-F7BC-CE88E992C24B}"/>
              </a:ext>
            </a:extLst>
          </p:cNvPr>
          <p:cNvSpPr/>
          <p:nvPr/>
        </p:nvSpPr>
        <p:spPr>
          <a:xfrm>
            <a:off x="502920" y="2606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Operational &amp; strategic dashboards (meaning + UI)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99213C15-869B-97C8-EDA5-2602DC61CCA1}"/>
              </a:ext>
            </a:extLst>
          </p:cNvPr>
          <p:cNvSpPr/>
          <p:nvPr/>
        </p:nvSpPr>
        <p:spPr>
          <a:xfrm>
            <a:off x="502920" y="3200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Models, challenges, future work</a:t>
            </a:r>
            <a:endParaRPr 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670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B94F1CA2-4426-C368-EE1F-8FD8B2F28047}"/>
              </a:ext>
            </a:extLst>
          </p:cNvPr>
          <p:cNvSpPr/>
          <p:nvPr/>
        </p:nvSpPr>
        <p:spPr>
          <a:xfrm>
            <a:off x="320040" y="109728"/>
            <a:ext cx="8503920" cy="644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>
                <a:latin typeface="Calibri" pitchFamily="34" charset="0"/>
                <a:ea typeface="Calibri" pitchFamily="34" charset="-122"/>
                <a:cs typeface="Calibri" pitchFamily="34" charset="-120"/>
              </a:rPr>
              <a:t>WHAT &amp; WHY — the problem | Nitesh</a:t>
            </a:r>
            <a:endParaRPr lang="en-US" sz="200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CF57D42F-AB06-5304-DF4A-918DEBF3A063}"/>
              </a:ext>
            </a:extLst>
          </p:cNvPr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Danala Group 8  ·  PRT661 Assessment 3  ·  3/24</a:t>
            </a:r>
            <a:endParaRPr lang="en-US" sz="100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4FC6D12-AD03-C5C6-6115-9834285B2E8D}"/>
              </a:ext>
            </a:extLst>
          </p:cNvPr>
          <p:cNvSpPr/>
          <p:nvPr/>
        </p:nvSpPr>
        <p:spPr>
          <a:xfrm>
            <a:off x="411480" y="594360"/>
            <a:ext cx="70008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latin typeface="Calibri" pitchFamily="34" charset="0"/>
                <a:ea typeface="Calibri" pitchFamily="34" charset="-122"/>
                <a:cs typeface="Calibri" pitchFamily="34" charset="-120"/>
              </a:rPr>
              <a:t>The NEM publishes rich five-minute, multi-region data — but without a structured path it stays hard to use. The issue is not missing data; it is missing AEMO → clean features → models → actions.</a:t>
            </a:r>
            <a:endParaRPr lang="en-US" sz="130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FD8C5871-DEAE-29C1-D29A-297D5F6CEF05}"/>
              </a:ext>
            </a:extLst>
          </p:cNvPr>
          <p:cNvSpPr/>
          <p:nvPr/>
        </p:nvSpPr>
        <p:spPr>
          <a:xfrm>
            <a:off x="274320" y="1691640"/>
            <a:ext cx="2788920" cy="1280160"/>
          </a:xfrm>
          <a:prstGeom prst="roundRect">
            <a:avLst>
              <a:gd name="adj" fmla="val 5714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9987A7C-C904-7E41-E1B4-7E35E4A28833}"/>
              </a:ext>
            </a:extLst>
          </p:cNvPr>
          <p:cNvSpPr/>
          <p:nvPr/>
        </p:nvSpPr>
        <p:spPr>
          <a:xfrm>
            <a:off x="384048" y="1874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heavy &amp; technical</a:t>
            </a:r>
            <a:endParaRPr lang="en-US" sz="120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A77E1915-B54A-CE4D-E075-CCF41DBEE778}"/>
              </a:ext>
            </a:extLst>
          </p:cNvPr>
          <p:cNvSpPr/>
          <p:nvPr/>
        </p:nvSpPr>
        <p:spPr>
          <a:xfrm>
            <a:off x="384048" y="2331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AEMO tables; not analysis-ready</a:t>
            </a:r>
            <a:endParaRPr lang="en-US" sz="120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97CC7D7A-F31B-9173-0FE9-D38FE950DBA0}"/>
              </a:ext>
            </a:extLst>
          </p:cNvPr>
          <p:cNvSpPr/>
          <p:nvPr/>
        </p:nvSpPr>
        <p:spPr>
          <a:xfrm>
            <a:off x="3200400" y="1691640"/>
            <a:ext cx="2788920" cy="1280160"/>
          </a:xfrm>
          <a:prstGeom prst="roundRect">
            <a:avLst>
              <a:gd name="adj" fmla="val 5714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404835B-41F2-62DE-2121-80C026B79471}"/>
              </a:ext>
            </a:extLst>
          </p:cNvPr>
          <p:cNvSpPr/>
          <p:nvPr/>
        </p:nvSpPr>
        <p:spPr>
          <a:xfrm>
            <a:off x="3310128" y="1874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spreadsheets</a:t>
            </a:r>
            <a:endParaRPr lang="en-US" sz="120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D7D70257-C9B7-6741-A842-DFBAED11D468}"/>
              </a:ext>
            </a:extLst>
          </p:cNvPr>
          <p:cNvSpPr/>
          <p:nvPr/>
        </p:nvSpPr>
        <p:spPr>
          <a:xfrm>
            <a:off x="3310128" y="2331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maintained warehouse or daily refresh</a:t>
            </a:r>
            <a:endParaRPr lang="en-US" sz="120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4E35728E-C5B4-3126-990C-A4ED2C95072D}"/>
              </a:ext>
            </a:extLst>
          </p:cNvPr>
          <p:cNvSpPr/>
          <p:nvPr/>
        </p:nvSpPr>
        <p:spPr>
          <a:xfrm>
            <a:off x="6126480" y="1691640"/>
            <a:ext cx="2788920" cy="1280160"/>
          </a:xfrm>
          <a:prstGeom prst="roundRect">
            <a:avLst>
              <a:gd name="adj" fmla="val 5714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C0113273-8ACE-CC67-3810-EE12F121B81B}"/>
              </a:ext>
            </a:extLst>
          </p:cNvPr>
          <p:cNvSpPr/>
          <p:nvPr/>
        </p:nvSpPr>
        <p:spPr>
          <a:xfrm>
            <a:off x="6236208" y="1874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gap</a:t>
            </a:r>
            <a:endParaRPr lang="en-US" sz="120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0D7EFC80-11DA-132A-C899-72458ED10AAA}"/>
              </a:ext>
            </a:extLst>
          </p:cNvPr>
          <p:cNvSpPr/>
          <p:nvPr/>
        </p:nvSpPr>
        <p:spPr>
          <a:xfrm>
            <a:off x="6236208" y="2331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move every 5 min — stale CSVs fail</a:t>
            </a:r>
            <a:endParaRPr lang="en-US" sz="120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E75190AF-2C6C-4CFA-606E-9DBF24D65762}"/>
              </a:ext>
            </a:extLst>
          </p:cNvPr>
          <p:cNvSpPr/>
          <p:nvPr/>
        </p:nvSpPr>
        <p:spPr>
          <a:xfrm>
            <a:off x="274320" y="3108960"/>
            <a:ext cx="2788920" cy="1280160"/>
          </a:xfrm>
          <a:prstGeom prst="roundRect">
            <a:avLst>
              <a:gd name="adj" fmla="val 5714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7AC63DE3-A443-3BCC-2B65-D70325D95563}"/>
              </a:ext>
            </a:extLst>
          </p:cNvPr>
          <p:cNvSpPr/>
          <p:nvPr/>
        </p:nvSpPr>
        <p:spPr>
          <a:xfrm>
            <a:off x="384048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gap</a:t>
            </a:r>
            <a:endParaRPr lang="en-US" sz="120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66B8AA4C-D59A-0940-B048-38AEE7605B75}"/>
              </a:ext>
            </a:extLst>
          </p:cNvPr>
          <p:cNvSpPr/>
          <p:nvPr/>
        </p:nvSpPr>
        <p:spPr>
          <a:xfrm>
            <a:off x="384048" y="3749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week cannot show multi-year patterns</a:t>
            </a:r>
            <a:endParaRPr lang="en-US" sz="120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ABB0401B-EEBF-CBDD-82D5-96B5CD89EFBC}"/>
              </a:ext>
            </a:extLst>
          </p:cNvPr>
          <p:cNvSpPr/>
          <p:nvPr/>
        </p:nvSpPr>
        <p:spPr>
          <a:xfrm>
            <a:off x="3200400" y="3108960"/>
            <a:ext cx="2788920" cy="1280160"/>
          </a:xfrm>
          <a:prstGeom prst="roundRect">
            <a:avLst>
              <a:gd name="adj" fmla="val 5714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888A0209-A38C-C8DC-443A-4CC63B3DDE7F}"/>
              </a:ext>
            </a:extLst>
          </p:cNvPr>
          <p:cNvSpPr/>
          <p:nvPr/>
        </p:nvSpPr>
        <p:spPr>
          <a:xfrm>
            <a:off x="3310128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gap</a:t>
            </a:r>
            <a:endParaRPr lang="en-US" sz="120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581DA7D3-0AF0-434A-AE53-087791D4C46F}"/>
              </a:ext>
            </a:extLst>
          </p:cNvPr>
          <p:cNvSpPr/>
          <p:nvPr/>
        </p:nvSpPr>
        <p:spPr>
          <a:xfrm>
            <a:off x="3310128" y="3749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reloads do not scale; need incremental load</a:t>
            </a:r>
            <a:endParaRPr lang="en-US" sz="120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6148156A-3C3C-D521-E3DB-F27DFE693260}"/>
              </a:ext>
            </a:extLst>
          </p:cNvPr>
          <p:cNvSpPr/>
          <p:nvPr/>
        </p:nvSpPr>
        <p:spPr>
          <a:xfrm>
            <a:off x="6126480" y="3108960"/>
            <a:ext cx="2788920" cy="1280160"/>
          </a:xfrm>
          <a:prstGeom prst="roundRect">
            <a:avLst>
              <a:gd name="adj" fmla="val 5714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6366BD60-FC53-F052-BD5C-CCC6D43A4CF8}"/>
              </a:ext>
            </a:extLst>
          </p:cNvPr>
          <p:cNvSpPr/>
          <p:nvPr/>
        </p:nvSpPr>
        <p:spPr>
          <a:xfrm>
            <a:off x="6236208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gap</a:t>
            </a:r>
            <a:endParaRPr lang="en-US" sz="120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596D518F-81FA-F305-371E-DC87384AD17D}"/>
              </a:ext>
            </a:extLst>
          </p:cNvPr>
          <p:cNvSpPr/>
          <p:nvPr/>
        </p:nvSpPr>
        <p:spPr>
          <a:xfrm>
            <a:off x="6236208" y="3749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without interpretation are not actionable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687998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1">
            <a:extLst>
              <a:ext uri="{FF2B5EF4-FFF2-40B4-BE49-F238E27FC236}">
                <a16:creationId xmlns:a16="http://schemas.microsoft.com/office/drawing/2014/main" id="{41D2084D-642F-9E74-DD44-367079813518}"/>
              </a:ext>
            </a:extLst>
          </p:cNvPr>
          <p:cNvSpPr/>
          <p:nvPr/>
        </p:nvSpPr>
        <p:spPr>
          <a:xfrm>
            <a:off x="320040" y="580645"/>
            <a:ext cx="8503920" cy="5930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>
                <a:latin typeface="Calibri" pitchFamily="34" charset="0"/>
                <a:ea typeface="Calibri" pitchFamily="34" charset="-122"/>
                <a:cs typeface="Calibri" pitchFamily="34" charset="-120"/>
              </a:rPr>
              <a:t>WHO — affected users | Nitesh</a:t>
            </a:r>
            <a:endParaRPr lang="en-US" sz="200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9E1C10B5-FDB1-4C03-DB0E-B0CD9E6C68D9}"/>
              </a:ext>
            </a:extLst>
          </p:cNvPr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Danala Group 8  ·  PRT661 Assessment 3  ·  4/24</a:t>
            </a:r>
            <a:endParaRPr lang="en-US" sz="1000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67EDA5AA-C221-253E-7348-18C6F6E00944}"/>
              </a:ext>
            </a:extLst>
          </p:cNvPr>
          <p:cNvSpPr/>
          <p:nvPr/>
        </p:nvSpPr>
        <p:spPr>
          <a:xfrm>
            <a:off x="274320" y="1348009"/>
            <a:ext cx="8595360" cy="87475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6112E6C9-1F37-B199-BF67-07578A10B085}"/>
              </a:ext>
            </a:extLst>
          </p:cNvPr>
          <p:cNvSpPr/>
          <p:nvPr/>
        </p:nvSpPr>
        <p:spPr>
          <a:xfrm>
            <a:off x="457200" y="1474649"/>
            <a:ext cx="2286000" cy="437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operators</a:t>
            </a:r>
            <a:endParaRPr lang="en-US" sz="140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BA7B20A2-861C-74A1-0E33-642120DFAFEF}"/>
              </a:ext>
            </a:extLst>
          </p:cNvPr>
          <p:cNvSpPr/>
          <p:nvPr/>
        </p:nvSpPr>
        <p:spPr>
          <a:xfrm>
            <a:off x="2834640" y="1459517"/>
            <a:ext cx="5852160" cy="568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price, demand, interchange — firm VRE, start peakers, watch regional stress.</a:t>
            </a:r>
            <a:endParaRPr lang="en-US" sz="1300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C247886E-C458-14A1-88D1-F4F3AAC13468}"/>
              </a:ext>
            </a:extLst>
          </p:cNvPr>
          <p:cNvSpPr/>
          <p:nvPr/>
        </p:nvSpPr>
        <p:spPr>
          <a:xfrm>
            <a:off x="274320" y="2086367"/>
            <a:ext cx="8595360" cy="87475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BBD1B7B6-8F92-6694-B751-8D67BD602499}"/>
              </a:ext>
            </a:extLst>
          </p:cNvPr>
          <p:cNvSpPr/>
          <p:nvPr/>
        </p:nvSpPr>
        <p:spPr>
          <a:xfrm>
            <a:off x="457200" y="2213007"/>
            <a:ext cx="2286000" cy="437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industry</a:t>
            </a:r>
            <a:endParaRPr lang="en-US" sz="140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B0ACA1F7-065F-A186-AFED-19CA7E50B91F}"/>
              </a:ext>
            </a:extLst>
          </p:cNvPr>
          <p:cNvSpPr/>
          <p:nvPr/>
        </p:nvSpPr>
        <p:spPr>
          <a:xfrm>
            <a:off x="2834640" y="2197875"/>
            <a:ext cx="5852160" cy="568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flexible load is expensive today; multi-year peaks for shifts and hedges.</a:t>
            </a:r>
            <a:endParaRPr lang="en-US" sz="1300"/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D426C462-9BCB-E8BC-E159-BA4F409557C2}"/>
              </a:ext>
            </a:extLst>
          </p:cNvPr>
          <p:cNvSpPr/>
          <p:nvPr/>
        </p:nvSpPr>
        <p:spPr>
          <a:xfrm>
            <a:off x="274320" y="2852602"/>
            <a:ext cx="8595360" cy="87475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C9FE41C6-9C2A-5A29-3BB6-19551BB9CF93}"/>
              </a:ext>
            </a:extLst>
          </p:cNvPr>
          <p:cNvSpPr/>
          <p:nvPr/>
        </p:nvSpPr>
        <p:spPr>
          <a:xfrm>
            <a:off x="457200" y="2979242"/>
            <a:ext cx="2286000" cy="437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A4D4B685-4BD7-E8D2-6124-6A9A65A1588F}"/>
              </a:ext>
            </a:extLst>
          </p:cNvPr>
          <p:cNvSpPr/>
          <p:nvPr/>
        </p:nvSpPr>
        <p:spPr>
          <a:xfrm>
            <a:off x="2834640" y="2964110"/>
            <a:ext cx="5852160" cy="568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peaks vs cheaper overnight windows for EVs and appliances.</a:t>
            </a:r>
            <a:endParaRPr lang="en-US" sz="1300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EC16BF9D-36C6-CF78-708C-4A578BBED68A}"/>
              </a:ext>
            </a:extLst>
          </p:cNvPr>
          <p:cNvSpPr/>
          <p:nvPr/>
        </p:nvSpPr>
        <p:spPr>
          <a:xfrm>
            <a:off x="274320" y="3588735"/>
            <a:ext cx="8595360" cy="87475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3E1801EF-D4D8-D716-C873-245598F4B775}"/>
              </a:ext>
            </a:extLst>
          </p:cNvPr>
          <p:cNvSpPr/>
          <p:nvPr/>
        </p:nvSpPr>
        <p:spPr>
          <a:xfrm>
            <a:off x="457200" y="3715375"/>
            <a:ext cx="2286000" cy="437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Planners / analysts</a:t>
            </a:r>
            <a:endParaRPr lang="en-US" sz="140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61FC309A-6EBF-8CA0-A6EA-25C14717ACDB}"/>
              </a:ext>
            </a:extLst>
          </p:cNvPr>
          <p:cNvSpPr/>
          <p:nvPr/>
        </p:nvSpPr>
        <p:spPr>
          <a:xfrm>
            <a:off x="2834640" y="3700243"/>
            <a:ext cx="5852160" cy="568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regional evidence for capacity, storage and tariffs.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164334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68A14063-15F0-9662-1328-102EE3061BB5}"/>
              </a:ext>
            </a:extLst>
          </p:cNvPr>
          <p:cNvSpPr/>
          <p:nvPr/>
        </p:nvSpPr>
        <p:spPr>
          <a:xfrm>
            <a:off x="320040" y="672084"/>
            <a:ext cx="8503920" cy="6782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 | Nitesh</a:t>
            </a:r>
            <a:endParaRPr lang="en-US" sz="200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A9B84434-0894-F52C-15E6-CE2D8492C50F}"/>
              </a:ext>
            </a:extLst>
          </p:cNvPr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Danala Group 8  ·  PRT661 Assessment 3  ·  5/24</a:t>
            </a:r>
            <a:endParaRPr lang="en-US" sz="100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D0EB03C8-9228-C1B0-B2B3-9F506C41C911}"/>
              </a:ext>
            </a:extLst>
          </p:cNvPr>
          <p:cNvSpPr/>
          <p:nvPr/>
        </p:nvSpPr>
        <p:spPr>
          <a:xfrm>
            <a:off x="320040" y="1433040"/>
            <a:ext cx="8503920" cy="653009"/>
          </a:xfrm>
          <a:prstGeom prst="roundRect">
            <a:avLst>
              <a:gd name="adj" fmla="val 12903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E7003C6-F835-C783-16EC-3E807A0F795C}"/>
              </a:ext>
            </a:extLst>
          </p:cNvPr>
          <p:cNvSpPr/>
          <p:nvPr/>
        </p:nvSpPr>
        <p:spPr>
          <a:xfrm>
            <a:off x="457200" y="1476362"/>
            <a:ext cx="594360" cy="400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3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0A4658A-83FA-EE13-5981-073C15197C42}"/>
              </a:ext>
            </a:extLst>
          </p:cNvPr>
          <p:cNvSpPr/>
          <p:nvPr/>
        </p:nvSpPr>
        <p:spPr>
          <a:xfrm>
            <a:off x="1097280" y="1487429"/>
            <a:ext cx="7498080" cy="4423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framework: ETL for operational daily and historical strategic analysis</a:t>
            </a:r>
            <a:endParaRPr lang="en-US" sz="130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17C20489-8779-445C-77AA-A9DFB7E75868}"/>
              </a:ext>
            </a:extLst>
          </p:cNvPr>
          <p:cNvSpPr/>
          <p:nvPr/>
        </p:nvSpPr>
        <p:spPr>
          <a:xfrm>
            <a:off x="320040" y="1883754"/>
            <a:ext cx="8503920" cy="653009"/>
          </a:xfrm>
          <a:prstGeom prst="roundRect">
            <a:avLst>
              <a:gd name="adj" fmla="val 12903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DF3D375-F289-FD08-3793-3DDEB9651131}"/>
              </a:ext>
            </a:extLst>
          </p:cNvPr>
          <p:cNvSpPr/>
          <p:nvPr/>
        </p:nvSpPr>
        <p:spPr>
          <a:xfrm>
            <a:off x="457200" y="1927076"/>
            <a:ext cx="594360" cy="400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3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EC3EE4CD-93CC-A03D-346B-6845BC3ED539}"/>
              </a:ext>
            </a:extLst>
          </p:cNvPr>
          <p:cNvSpPr/>
          <p:nvPr/>
        </p:nvSpPr>
        <p:spPr>
          <a:xfrm>
            <a:off x="1097280" y="1938143"/>
            <a:ext cx="7498080" cy="4423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real AEMO data via NEMOSIS (price, demand, interchange, generation)</a:t>
            </a:r>
            <a:endParaRPr lang="en-US" sz="130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C30E77A9-2491-B7E7-3AD2-9BC22C9479AB}"/>
              </a:ext>
            </a:extLst>
          </p:cNvPr>
          <p:cNvSpPr/>
          <p:nvPr/>
        </p:nvSpPr>
        <p:spPr>
          <a:xfrm>
            <a:off x="320040" y="2308960"/>
            <a:ext cx="8503920" cy="653009"/>
          </a:xfrm>
          <a:prstGeom prst="roundRect">
            <a:avLst>
              <a:gd name="adj" fmla="val 12903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8A2A3EE3-D700-19DA-FB2E-DCF4DF384724}"/>
              </a:ext>
            </a:extLst>
          </p:cNvPr>
          <p:cNvSpPr/>
          <p:nvPr/>
        </p:nvSpPr>
        <p:spPr>
          <a:xfrm>
            <a:off x="457200" y="2352282"/>
            <a:ext cx="594360" cy="400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3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F6BF6D37-369C-BE82-0A4E-C0C6558A50D5}"/>
              </a:ext>
            </a:extLst>
          </p:cNvPr>
          <p:cNvSpPr/>
          <p:nvPr/>
        </p:nvSpPr>
        <p:spPr>
          <a:xfrm>
            <a:off x="1097280" y="2363349"/>
            <a:ext cx="7498080" cy="4423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warehouse: staging → dwh → datamart on PostgreSQL</a:t>
            </a:r>
            <a:endParaRPr lang="en-US" sz="130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DFEB629A-FDDA-74DF-DA9B-A8B875246FAB}"/>
              </a:ext>
            </a:extLst>
          </p:cNvPr>
          <p:cNvSpPr/>
          <p:nvPr/>
        </p:nvSpPr>
        <p:spPr>
          <a:xfrm>
            <a:off x="320040" y="2747874"/>
            <a:ext cx="8503920" cy="653009"/>
          </a:xfrm>
          <a:prstGeom prst="roundRect">
            <a:avLst>
              <a:gd name="adj" fmla="val 12903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3A6D4758-C731-AA1D-B827-7D8818BB71A9}"/>
              </a:ext>
            </a:extLst>
          </p:cNvPr>
          <p:cNvSpPr/>
          <p:nvPr/>
        </p:nvSpPr>
        <p:spPr>
          <a:xfrm>
            <a:off x="457200" y="2791196"/>
            <a:ext cx="594360" cy="400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130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B58361DE-603C-7FDE-9C9D-EB79F784A1D3}"/>
              </a:ext>
            </a:extLst>
          </p:cNvPr>
          <p:cNvSpPr/>
          <p:nvPr/>
        </p:nvSpPr>
        <p:spPr>
          <a:xfrm>
            <a:off x="1097280" y="2802263"/>
            <a:ext cx="7498080" cy="4423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full load + daily incremental; Airflow DAGs for scheduling</a:t>
            </a:r>
            <a:endParaRPr lang="en-US" sz="130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581F8011-1D78-C159-5601-D19FD530E488}"/>
              </a:ext>
            </a:extLst>
          </p:cNvPr>
          <p:cNvSpPr/>
          <p:nvPr/>
        </p:nvSpPr>
        <p:spPr>
          <a:xfrm>
            <a:off x="320040" y="3162012"/>
            <a:ext cx="8503920" cy="653009"/>
          </a:xfrm>
          <a:prstGeom prst="roundRect">
            <a:avLst>
              <a:gd name="adj" fmla="val 12903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A9B2188E-9826-B89D-03F6-E1227DE7D629}"/>
              </a:ext>
            </a:extLst>
          </p:cNvPr>
          <p:cNvSpPr/>
          <p:nvPr/>
        </p:nvSpPr>
        <p:spPr>
          <a:xfrm>
            <a:off x="457200" y="3205334"/>
            <a:ext cx="594360" cy="400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130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22C35335-66B7-6CC0-A15F-72A08B7C349D}"/>
              </a:ext>
            </a:extLst>
          </p:cNvPr>
          <p:cNvSpPr/>
          <p:nvPr/>
        </p:nvSpPr>
        <p:spPr>
          <a:xfrm>
            <a:off x="1097280" y="3216401"/>
            <a:ext cx="7498080" cy="4423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+ multi-step forecasts (Naive, Ridge, </a:t>
            </a:r>
            <a:r>
              <a:rPr lang="en-US" sz="130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HistGB</a:t>
            </a: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2ADFA8FF-3286-B1CC-8070-1C03AEA8C711}"/>
              </a:ext>
            </a:extLst>
          </p:cNvPr>
          <p:cNvSpPr/>
          <p:nvPr/>
        </p:nvSpPr>
        <p:spPr>
          <a:xfrm>
            <a:off x="320040" y="3587218"/>
            <a:ext cx="8503920" cy="653009"/>
          </a:xfrm>
          <a:prstGeom prst="roundRect">
            <a:avLst>
              <a:gd name="adj" fmla="val 12903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AC0C935-DA75-198E-CE44-8CAE063927F0}"/>
              </a:ext>
            </a:extLst>
          </p:cNvPr>
          <p:cNvSpPr/>
          <p:nvPr/>
        </p:nvSpPr>
        <p:spPr>
          <a:xfrm>
            <a:off x="457200" y="3630540"/>
            <a:ext cx="594360" cy="400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O6</a:t>
            </a:r>
            <a:endParaRPr lang="en-US" sz="130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EAEE9610-344B-1490-EECF-2E7EBE7E9C00}"/>
              </a:ext>
            </a:extLst>
          </p:cNvPr>
          <p:cNvSpPr/>
          <p:nvPr/>
        </p:nvSpPr>
        <p:spPr>
          <a:xfrm>
            <a:off x="1097280" y="3641607"/>
            <a:ext cx="7498080" cy="4423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decision-ready dashboards: Operational (:8501) and Strategic (:8502)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331872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9A751F65-7166-8468-43E7-FCD33CD0824B}"/>
              </a:ext>
            </a:extLst>
          </p:cNvPr>
          <p:cNvSpPr/>
          <p:nvPr/>
        </p:nvSpPr>
        <p:spPr>
          <a:xfrm>
            <a:off x="246888" y="544067"/>
            <a:ext cx="8503920" cy="640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 &amp; tools | Nitesh</a:t>
            </a:r>
            <a:endParaRPr lang="en-US" sz="200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C63B1417-4E37-5B42-FA53-511407BEFE20}"/>
              </a:ext>
            </a:extLst>
          </p:cNvPr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Danala Group 8  ·  PRT661 Assessment 3  ·  6/24</a:t>
            </a:r>
            <a:endParaRPr lang="en-US" sz="100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85AABB14-89D0-9B96-B014-CBE77F330342}"/>
              </a:ext>
            </a:extLst>
          </p:cNvPr>
          <p:cNvSpPr/>
          <p:nvPr/>
        </p:nvSpPr>
        <p:spPr>
          <a:xfrm>
            <a:off x="246888" y="1351598"/>
            <a:ext cx="1143000" cy="868680"/>
          </a:xfrm>
          <a:prstGeom prst="roundRect">
            <a:avLst>
              <a:gd name="adj" fmla="val 8421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89497BB-45E1-4CDF-8C7A-53F36F688FE4}"/>
              </a:ext>
            </a:extLst>
          </p:cNvPr>
          <p:cNvSpPr/>
          <p:nvPr/>
        </p:nvSpPr>
        <p:spPr>
          <a:xfrm>
            <a:off x="246888" y="1580198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AEMO</a:t>
            </a:r>
            <a:endParaRPr lang="en-US" sz="120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6F610EA0-B038-9CDA-944A-85AA2406E03F}"/>
              </a:ext>
            </a:extLst>
          </p:cNvPr>
          <p:cNvSpPr/>
          <p:nvPr/>
        </p:nvSpPr>
        <p:spPr>
          <a:xfrm>
            <a:off x="1508760" y="1351598"/>
            <a:ext cx="1143000" cy="868680"/>
          </a:xfrm>
          <a:prstGeom prst="roundRect">
            <a:avLst>
              <a:gd name="adj" fmla="val 8421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98A15DC-6A6A-1D28-0CB9-D3FB3FC9E392}"/>
              </a:ext>
            </a:extLst>
          </p:cNvPr>
          <p:cNvSpPr/>
          <p:nvPr/>
        </p:nvSpPr>
        <p:spPr>
          <a:xfrm>
            <a:off x="1508760" y="1580198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NEMOSIS</a:t>
            </a:r>
            <a:endParaRPr lang="en-US" sz="12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9FA0B0EA-CFE4-34EA-DE90-B2425F5D1434}"/>
              </a:ext>
            </a:extLst>
          </p:cNvPr>
          <p:cNvSpPr/>
          <p:nvPr/>
        </p:nvSpPr>
        <p:spPr>
          <a:xfrm>
            <a:off x="2770632" y="1351598"/>
            <a:ext cx="1143000" cy="868680"/>
          </a:xfrm>
          <a:prstGeom prst="roundRect">
            <a:avLst>
              <a:gd name="adj" fmla="val 8421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524185AD-CC24-6232-2AD0-32051ECC6E63}"/>
              </a:ext>
            </a:extLst>
          </p:cNvPr>
          <p:cNvSpPr/>
          <p:nvPr/>
        </p:nvSpPr>
        <p:spPr>
          <a:xfrm>
            <a:off x="2770632" y="1580198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0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C7C6BD77-1739-DD87-6E1B-995D31BF4EF9}"/>
              </a:ext>
            </a:extLst>
          </p:cNvPr>
          <p:cNvSpPr/>
          <p:nvPr/>
        </p:nvSpPr>
        <p:spPr>
          <a:xfrm>
            <a:off x="4032504" y="1351598"/>
            <a:ext cx="1143000" cy="868680"/>
          </a:xfrm>
          <a:prstGeom prst="roundRect">
            <a:avLst>
              <a:gd name="adj" fmla="val 8421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FC88B856-7D9B-DCA3-8739-D2113AB28A31}"/>
              </a:ext>
            </a:extLst>
          </p:cNvPr>
          <p:cNvSpPr/>
          <p:nvPr/>
        </p:nvSpPr>
        <p:spPr>
          <a:xfrm>
            <a:off x="4032504" y="1580198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20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14D70010-44F3-89BE-664D-B759C65453FD}"/>
              </a:ext>
            </a:extLst>
          </p:cNvPr>
          <p:cNvSpPr/>
          <p:nvPr/>
        </p:nvSpPr>
        <p:spPr>
          <a:xfrm>
            <a:off x="5294376" y="1351598"/>
            <a:ext cx="1143000" cy="868680"/>
          </a:xfrm>
          <a:prstGeom prst="roundRect">
            <a:avLst>
              <a:gd name="adj" fmla="val 8421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8F3073C3-5755-2609-F239-0C6373F4D226}"/>
              </a:ext>
            </a:extLst>
          </p:cNvPr>
          <p:cNvSpPr/>
          <p:nvPr/>
        </p:nvSpPr>
        <p:spPr>
          <a:xfrm>
            <a:off x="5294376" y="1580198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</a:t>
            </a:r>
            <a:endParaRPr lang="en-US" sz="120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4FED0847-D7F7-5720-81DD-A1A21AC74906}"/>
              </a:ext>
            </a:extLst>
          </p:cNvPr>
          <p:cNvSpPr/>
          <p:nvPr/>
        </p:nvSpPr>
        <p:spPr>
          <a:xfrm>
            <a:off x="6556248" y="1351598"/>
            <a:ext cx="1143000" cy="868680"/>
          </a:xfrm>
          <a:prstGeom prst="roundRect">
            <a:avLst>
              <a:gd name="adj" fmla="val 8421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6FABD735-D09E-0EB3-92BE-1246BFC685FD}"/>
              </a:ext>
            </a:extLst>
          </p:cNvPr>
          <p:cNvSpPr/>
          <p:nvPr/>
        </p:nvSpPr>
        <p:spPr>
          <a:xfrm>
            <a:off x="6556248" y="1580198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Mart+ML</a:t>
            </a:r>
            <a:endParaRPr lang="en-US" sz="120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95A49362-1326-905A-FF48-93639764AB90}"/>
              </a:ext>
            </a:extLst>
          </p:cNvPr>
          <p:cNvSpPr/>
          <p:nvPr/>
        </p:nvSpPr>
        <p:spPr>
          <a:xfrm>
            <a:off x="7818120" y="1351598"/>
            <a:ext cx="1143000" cy="868680"/>
          </a:xfrm>
          <a:prstGeom prst="roundRect">
            <a:avLst>
              <a:gd name="adj" fmla="val 8421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A5379FA0-20BA-1CF9-72D5-A73418C84A86}"/>
              </a:ext>
            </a:extLst>
          </p:cNvPr>
          <p:cNvSpPr/>
          <p:nvPr/>
        </p:nvSpPr>
        <p:spPr>
          <a:xfrm>
            <a:off x="7818120" y="1580198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UIs</a:t>
            </a:r>
            <a:endParaRPr lang="en-US" sz="120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0D548E90-D9AD-14CA-1FB2-93B5BB47C89E}"/>
              </a:ext>
            </a:extLst>
          </p:cNvPr>
          <p:cNvSpPr/>
          <p:nvPr/>
        </p:nvSpPr>
        <p:spPr>
          <a:xfrm>
            <a:off x="246888" y="2382870"/>
            <a:ext cx="4251960" cy="996696"/>
          </a:xfrm>
          <a:prstGeom prst="roundRect">
            <a:avLst>
              <a:gd name="adj" fmla="val 5714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9A2A02A1-2EDF-129C-549F-17B1BD9248E5}"/>
              </a:ext>
            </a:extLst>
          </p:cNvPr>
          <p:cNvSpPr/>
          <p:nvPr/>
        </p:nvSpPr>
        <p:spPr>
          <a:xfrm>
            <a:off x="384048" y="2520030"/>
            <a:ext cx="3977640" cy="2491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30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55ABD999-B988-5002-96F0-DCC13598CAB7}"/>
              </a:ext>
            </a:extLst>
          </p:cNvPr>
          <p:cNvSpPr/>
          <p:nvPr/>
        </p:nvSpPr>
        <p:spPr>
          <a:xfrm>
            <a:off x="384048" y="2885790"/>
            <a:ext cx="39776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stack: app images, Postgres, optional Airflow, Streamlit on fixed ports</a:t>
            </a:r>
            <a:endParaRPr lang="en-US" sz="120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E486157F-AF31-9FF9-D834-1EAE4AE7BB7F}"/>
              </a:ext>
            </a:extLst>
          </p:cNvPr>
          <p:cNvSpPr/>
          <p:nvPr/>
        </p:nvSpPr>
        <p:spPr>
          <a:xfrm>
            <a:off x="4681728" y="2382870"/>
            <a:ext cx="4251960" cy="996696"/>
          </a:xfrm>
          <a:prstGeom prst="roundRect">
            <a:avLst>
              <a:gd name="adj" fmla="val 5714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BE366E3D-3633-5927-7A73-6142FA56C36E}"/>
              </a:ext>
            </a:extLst>
          </p:cNvPr>
          <p:cNvSpPr/>
          <p:nvPr/>
        </p:nvSpPr>
        <p:spPr>
          <a:xfrm>
            <a:off x="4818888" y="2520030"/>
            <a:ext cx="3977640" cy="2491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30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2656080D-2C01-B66F-82A1-102090F458B1}"/>
              </a:ext>
            </a:extLst>
          </p:cNvPr>
          <p:cNvSpPr/>
          <p:nvPr/>
        </p:nvSpPr>
        <p:spPr>
          <a:xfrm>
            <a:off x="4818888" y="2885790"/>
            <a:ext cx="39776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nem_strategic_history (manual full load)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nem_operational_daily (scheduled incremental)</a:t>
            </a:r>
            <a:endParaRPr lang="en-US" sz="12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B6EF53B8-A8B3-8354-832B-26BE7C8D9A8A}"/>
              </a:ext>
            </a:extLst>
          </p:cNvPr>
          <p:cNvSpPr/>
          <p:nvPr/>
        </p:nvSpPr>
        <p:spPr>
          <a:xfrm>
            <a:off x="246888" y="3435573"/>
            <a:ext cx="4251960" cy="996696"/>
          </a:xfrm>
          <a:prstGeom prst="roundRect">
            <a:avLst>
              <a:gd name="adj" fmla="val 5714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0DAF0AD1-D6BE-166A-3D30-CB8F8047EF19}"/>
              </a:ext>
            </a:extLst>
          </p:cNvPr>
          <p:cNvSpPr/>
          <p:nvPr/>
        </p:nvSpPr>
        <p:spPr>
          <a:xfrm>
            <a:off x="384048" y="3572733"/>
            <a:ext cx="3977640" cy="2491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3A8AF640-E881-2AB3-5B8F-6888DE2554B9}"/>
              </a:ext>
            </a:extLst>
          </p:cNvPr>
          <p:cNvSpPr/>
          <p:nvPr/>
        </p:nvSpPr>
        <p:spPr>
          <a:xfrm>
            <a:off x="384048" y="3938493"/>
            <a:ext cx="39776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 staging → dwh → datamart → analytics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volume for history</a:t>
            </a:r>
            <a:endParaRPr lang="en-US" sz="1200"/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4C0A1CEA-9C3F-CC02-C4F8-22D83282D88F}"/>
              </a:ext>
            </a:extLst>
          </p:cNvPr>
          <p:cNvSpPr/>
          <p:nvPr/>
        </p:nvSpPr>
        <p:spPr>
          <a:xfrm>
            <a:off x="4681728" y="3435573"/>
            <a:ext cx="4251960" cy="996696"/>
          </a:xfrm>
          <a:prstGeom prst="roundRect">
            <a:avLst>
              <a:gd name="adj" fmla="val 5714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5B12BE1A-F41D-2C99-E488-9236E6111FB9}"/>
              </a:ext>
            </a:extLst>
          </p:cNvPr>
          <p:cNvSpPr/>
          <p:nvPr/>
        </p:nvSpPr>
        <p:spPr>
          <a:xfrm>
            <a:off x="4818888" y="3572733"/>
            <a:ext cx="3977640" cy="2491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Streamlit</a:t>
            </a:r>
            <a:endParaRPr lang="en-US" sz="130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DD067229-15B2-8683-E4B1-E6E64A60FF2B}"/>
              </a:ext>
            </a:extLst>
          </p:cNvPr>
          <p:cNvSpPr/>
          <p:nvPr/>
        </p:nvSpPr>
        <p:spPr>
          <a:xfrm>
            <a:off x="4818888" y="3938493"/>
            <a:ext cx="39776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ETL, </a:t>
            </a:r>
            <a:r>
              <a:rPr lang="en-US" sz="120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</a:t>
            </a: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models, </a:t>
            </a:r>
            <a:r>
              <a:rPr lang="en-US" sz="120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dynamic dashboards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:8501 ops · :8502 strategic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669877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E7F548AF-4C56-3F52-DE8C-32366FAA9519}"/>
              </a:ext>
            </a:extLst>
          </p:cNvPr>
          <p:cNvSpPr/>
          <p:nvPr/>
        </p:nvSpPr>
        <p:spPr>
          <a:xfrm>
            <a:off x="320040" y="338328"/>
            <a:ext cx="85039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latin typeface="Calibri" pitchFamily="34" charset="0"/>
                <a:ea typeface="Calibri" pitchFamily="34" charset="-122"/>
                <a:cs typeface="Calibri" pitchFamily="34" charset="-120"/>
              </a:rPr>
              <a:t>Two coordinated ETL paths | Nitesh</a:t>
            </a:r>
            <a:endParaRPr lang="en-US" sz="2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2FD0061-9DBF-E9DA-B9CA-1369F4B2FEAD}"/>
              </a:ext>
            </a:extLst>
          </p:cNvPr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Danala Group 8  ·  PRT661 Assessment 3  ·  7/24</a:t>
            </a:r>
            <a:endParaRPr lang="en-US" sz="10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5CE0EC7-6227-555D-5823-7A18FFD590FB}"/>
              </a:ext>
            </a:extLst>
          </p:cNvPr>
          <p:cNvSpPr/>
          <p:nvPr/>
        </p:nvSpPr>
        <p:spPr>
          <a:xfrm>
            <a:off x="320040" y="896112"/>
            <a:ext cx="3798277" cy="3592055"/>
          </a:xfrm>
          <a:prstGeom prst="roundRect">
            <a:avLst>
              <a:gd name="adj" fmla="val 1905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47A1EC3-0B2D-0A58-D4DD-DFFF4F20062B}"/>
              </a:ext>
            </a:extLst>
          </p:cNvPr>
          <p:cNvSpPr/>
          <p:nvPr/>
        </p:nvSpPr>
        <p:spPr>
          <a:xfrm>
            <a:off x="457200" y="1078992"/>
            <a:ext cx="3840480" cy="34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history</a:t>
            </a:r>
            <a:endParaRPr lang="en-US" sz="15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3C192B8-85AC-5520-DC37-DB4A8DDC1B6D}"/>
              </a:ext>
            </a:extLst>
          </p:cNvPr>
          <p:cNvSpPr/>
          <p:nvPr/>
        </p:nvSpPr>
        <p:spPr>
          <a:xfrm>
            <a:off x="457200" y="1627632"/>
            <a:ext cx="3840480" cy="384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Window e.g. 2024–2025</a:t>
            </a:r>
            <a:endParaRPr lang="en-US" sz="13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9FEADA1-4605-C478-6CF7-DD0E20521389}"/>
              </a:ext>
            </a:extLst>
          </p:cNvPr>
          <p:cNvSpPr/>
          <p:nvPr/>
        </p:nvSpPr>
        <p:spPr>
          <a:xfrm>
            <a:off x="457200" y="2084832"/>
            <a:ext cx="3840480" cy="384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refresh staging/</a:t>
            </a:r>
            <a:r>
              <a:rPr lang="en-US" sz="130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</a:t>
            </a: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/mart</a:t>
            </a:r>
            <a:endParaRPr lang="en-US" sz="13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4E12CE9-888B-1F3D-D46E-A35FC2E664A3}"/>
              </a:ext>
            </a:extLst>
          </p:cNvPr>
          <p:cNvSpPr/>
          <p:nvPr/>
        </p:nvSpPr>
        <p:spPr>
          <a:xfrm>
            <a:off x="457200" y="2542032"/>
            <a:ext cx="3840480" cy="384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 hourly analytics</a:t>
            </a:r>
            <a:endParaRPr lang="en-US" sz="13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1619960-270D-BB85-2BF0-0A5E75B67452}"/>
              </a:ext>
            </a:extLst>
          </p:cNvPr>
          <p:cNvSpPr/>
          <p:nvPr/>
        </p:nvSpPr>
        <p:spPr>
          <a:xfrm>
            <a:off x="457200" y="2999232"/>
            <a:ext cx="3840480" cy="384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Train models + insight cards</a:t>
            </a:r>
            <a:endParaRPr lang="en-US" sz="13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3815234-37C3-E0A3-886A-BE295B92111B}"/>
              </a:ext>
            </a:extLst>
          </p:cNvPr>
          <p:cNvSpPr/>
          <p:nvPr/>
        </p:nvSpPr>
        <p:spPr>
          <a:xfrm>
            <a:off x="457200" y="3456432"/>
            <a:ext cx="3840480" cy="384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Airflow: nem_strategic_history</a:t>
            </a:r>
            <a:endParaRPr lang="en-US" sz="13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5908201-85AF-AD17-DE5A-E9164B18AD6A}"/>
              </a:ext>
            </a:extLst>
          </p:cNvPr>
          <p:cNvSpPr/>
          <p:nvPr/>
        </p:nvSpPr>
        <p:spPr>
          <a:xfrm>
            <a:off x="457200" y="3913632"/>
            <a:ext cx="3840480" cy="384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CLI: run_strategic_history.py</a:t>
            </a:r>
            <a:endParaRPr lang="en-US" sz="13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89B5D4F4-06C9-242A-DF0B-11025DBC234D}"/>
              </a:ext>
            </a:extLst>
          </p:cNvPr>
          <p:cNvSpPr/>
          <p:nvPr/>
        </p:nvSpPr>
        <p:spPr>
          <a:xfrm>
            <a:off x="4358775" y="896112"/>
            <a:ext cx="3840480" cy="3592055"/>
          </a:xfrm>
          <a:prstGeom prst="roundRect">
            <a:avLst>
              <a:gd name="adj" fmla="val 1905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2CC0874-DA0D-88D3-320B-975FAF7EE586}"/>
              </a:ext>
            </a:extLst>
          </p:cNvPr>
          <p:cNvSpPr/>
          <p:nvPr/>
        </p:nvSpPr>
        <p:spPr>
          <a:xfrm>
            <a:off x="4495935" y="1078992"/>
            <a:ext cx="3840480" cy="34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/ Daily</a:t>
            </a:r>
            <a:endParaRPr lang="en-US" sz="15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402351D-B088-A60A-EB52-7A5E546D7ACB}"/>
              </a:ext>
            </a:extLst>
          </p:cNvPr>
          <p:cNvSpPr/>
          <p:nvPr/>
        </p:nvSpPr>
        <p:spPr>
          <a:xfrm>
            <a:off x="4495935" y="1627632"/>
            <a:ext cx="3840480" cy="384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max(settlementdate) + 1 day</a:t>
            </a:r>
            <a:endParaRPr lang="en-US" sz="13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AFDB29BA-3B3F-B968-14BC-8C55126787ED}"/>
              </a:ext>
            </a:extLst>
          </p:cNvPr>
          <p:cNvSpPr/>
          <p:nvPr/>
        </p:nvSpPr>
        <p:spPr>
          <a:xfrm>
            <a:off x="4495935" y="2084832"/>
            <a:ext cx="3840480" cy="384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Upsert (delete day, insert)</a:t>
            </a:r>
            <a:endParaRPr lang="en-US" sz="13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7731C207-D2DA-4449-E918-BCA43C440DBD}"/>
              </a:ext>
            </a:extLst>
          </p:cNvPr>
          <p:cNvSpPr/>
          <p:nvPr/>
        </p:nvSpPr>
        <p:spPr>
          <a:xfrm>
            <a:off x="4495935" y="2542032"/>
            <a:ext cx="3840480" cy="384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Keeps strategic history</a:t>
            </a:r>
            <a:endParaRPr lang="en-US" sz="13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DBC610B-DE93-7FBE-4E73-C35405CF5038}"/>
              </a:ext>
            </a:extLst>
          </p:cNvPr>
          <p:cNvSpPr/>
          <p:nvPr/>
        </p:nvSpPr>
        <p:spPr>
          <a:xfrm>
            <a:off x="4495935" y="2999232"/>
            <a:ext cx="3840480" cy="384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Refresh short-term forecasts</a:t>
            </a:r>
            <a:endParaRPr lang="en-US" sz="130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12A3136-3BF3-029B-A503-A1503F91F4C5}"/>
              </a:ext>
            </a:extLst>
          </p:cNvPr>
          <p:cNvSpPr/>
          <p:nvPr/>
        </p:nvSpPr>
        <p:spPr>
          <a:xfrm>
            <a:off x="4495935" y="3456432"/>
            <a:ext cx="3840480" cy="384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Airflow: nem_operational_daily</a:t>
            </a:r>
            <a:endParaRPr lang="en-US" sz="13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110E6179-5547-2A1F-E0A3-3D7924415A90}"/>
              </a:ext>
            </a:extLst>
          </p:cNvPr>
          <p:cNvSpPr/>
          <p:nvPr/>
        </p:nvSpPr>
        <p:spPr>
          <a:xfrm>
            <a:off x="4495935" y="3913632"/>
            <a:ext cx="3840480" cy="384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CLI: run_daily_pipeline.py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235323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E1398-741F-93E6-0971-99A3BA03C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3D0BE8A2-4021-AFCE-7EFA-D992A4547E2A}"/>
              </a:ext>
            </a:extLst>
          </p:cNvPr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Danala Group 8  ·  PRT661 Assessment 3  · 8/24</a:t>
            </a:r>
            <a:endParaRPr lang="en-US" sz="100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54075E19-A6FC-2102-82BD-B93E9481A7D5}"/>
              </a:ext>
            </a:extLst>
          </p:cNvPr>
          <p:cNvSpPr/>
          <p:nvPr/>
        </p:nvSpPr>
        <p:spPr>
          <a:xfrm>
            <a:off x="320040" y="109728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00" b="1">
                <a:latin typeface="Calibri" pitchFamily="34" charset="0"/>
                <a:ea typeface="Calibri" pitchFamily="34" charset="-122"/>
                <a:cs typeface="Calibri" pitchFamily="34" charset="-120"/>
              </a:rPr>
              <a:t>What the raw data looked like </a:t>
            </a:r>
            <a:r>
              <a:rPr lang="en-US" sz="1700" b="1">
                <a:ea typeface="Calibri"/>
                <a:cs typeface="Calibri"/>
              </a:rPr>
              <a:t>|Dipesh</a:t>
            </a:r>
            <a:endParaRPr lang="en-US" sz="170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81C2C707-3029-2003-0B78-D0B1C619D7F5}"/>
              </a:ext>
            </a:extLst>
          </p:cNvPr>
          <p:cNvSpPr/>
          <p:nvPr/>
        </p:nvSpPr>
        <p:spPr>
          <a:xfrm>
            <a:off x="274320" y="550126"/>
            <a:ext cx="3870217" cy="4067593"/>
          </a:xfrm>
          <a:prstGeom prst="roundRect">
            <a:avLst>
              <a:gd name="adj" fmla="val 1778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93278AF4-EB4C-E2A2-F4E5-2B811CD487FF}"/>
              </a:ext>
            </a:extLst>
          </p:cNvPr>
          <p:cNvSpPr/>
          <p:nvPr/>
        </p:nvSpPr>
        <p:spPr>
          <a:xfrm>
            <a:off x="411480" y="6400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AEMO tables via NEMOSIS</a:t>
            </a:r>
            <a:endParaRPr lang="en-US" sz="140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AC762C5E-8D93-B64E-40A3-B5D4B9646EE6}"/>
              </a:ext>
            </a:extLst>
          </p:cNvPr>
          <p:cNvSpPr/>
          <p:nvPr/>
        </p:nvSpPr>
        <p:spPr>
          <a:xfrm>
            <a:off x="411480" y="109728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DISPATCHPRICE: SETTLEMENTDATE, REGIONID, RRP, INTERVENTION</a:t>
            </a:r>
            <a:endParaRPr lang="en-US" sz="110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C41F7950-B48F-7D56-D082-69EA4BE07C59}"/>
              </a:ext>
            </a:extLst>
          </p:cNvPr>
          <p:cNvSpPr/>
          <p:nvPr/>
        </p:nvSpPr>
        <p:spPr>
          <a:xfrm>
            <a:off x="411480" y="155448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DISPATCHREGIONSUM: TOTALDEMAND, NETINTERCHANGE, DEMANDFORECAST</a:t>
            </a:r>
            <a:endParaRPr lang="en-US" sz="110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F39135DA-2631-BB1E-1C1C-FBAD9393815E}"/>
              </a:ext>
            </a:extLst>
          </p:cNvPr>
          <p:cNvSpPr/>
          <p:nvPr/>
        </p:nvSpPr>
        <p:spPr>
          <a:xfrm>
            <a:off x="411480" y="201168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Generation fields: AVAILABLEGENERATION, SEMISCHEDULE_CLEAREDMW, UIGF, …</a:t>
            </a:r>
            <a:endParaRPr lang="en-US" sz="110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4DD7348F-3D91-70D1-3BF9-FC1B6AA36B38}"/>
              </a:ext>
            </a:extLst>
          </p:cNvPr>
          <p:cNvSpPr/>
          <p:nvPr/>
        </p:nvSpPr>
        <p:spPr>
          <a:xfrm>
            <a:off x="411480" y="246888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Grain: 5-minute dispatch intervals</a:t>
            </a:r>
            <a:endParaRPr lang="en-US" sz="110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81B32AF6-B8EB-B006-ABC6-356893705831}"/>
              </a:ext>
            </a:extLst>
          </p:cNvPr>
          <p:cNvSpPr/>
          <p:nvPr/>
        </p:nvSpPr>
        <p:spPr>
          <a:xfrm>
            <a:off x="411480" y="292608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Regions: NSW1, QLD1, VIC1, SA1, TAS1</a:t>
            </a:r>
            <a:endParaRPr lang="en-US" sz="110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694D2EAB-E131-2521-A933-F94E16FD1077}"/>
              </a:ext>
            </a:extLst>
          </p:cNvPr>
          <p:cNvSpPr/>
          <p:nvPr/>
        </p:nvSpPr>
        <p:spPr>
          <a:xfrm>
            <a:off x="411480" y="338328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Example: 2025-01-08 00:05 NSW1 RRP=72.4 TOTALDEMAND=7480</a:t>
            </a:r>
            <a:endParaRPr lang="en-US" sz="110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6EB77497-A117-A5A9-2F2C-A917CC784A31}"/>
              </a:ext>
            </a:extLst>
          </p:cNvPr>
          <p:cNvSpPr/>
          <p:nvPr/>
        </p:nvSpPr>
        <p:spPr>
          <a:xfrm>
            <a:off x="411480" y="384048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~288 intervals/day × 5 regions ≈ 1,440 rows/day</a:t>
            </a:r>
            <a:endParaRPr lang="en-US" sz="1100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D1507770-F11F-C24A-756D-B8A9624C79A3}"/>
              </a:ext>
            </a:extLst>
          </p:cNvPr>
          <p:cNvSpPr/>
          <p:nvPr/>
        </p:nvSpPr>
        <p:spPr>
          <a:xfrm>
            <a:off x="4709160" y="630936"/>
            <a:ext cx="3483269" cy="3986784"/>
          </a:xfrm>
          <a:prstGeom prst="roundRect">
            <a:avLst>
              <a:gd name="adj" fmla="val 1778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FE0EAE44-C75C-4D09-EB2C-5BA1426935CA}"/>
              </a:ext>
            </a:extLst>
          </p:cNvPr>
          <p:cNvSpPr/>
          <p:nvPr/>
        </p:nvSpPr>
        <p:spPr>
          <a:xfrm>
            <a:off x="4846320" y="640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in the raw feed</a:t>
            </a:r>
            <a:endParaRPr lang="en-US" sz="1400"/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B7887F32-28B6-C833-B642-16DDE8B1E5FE}"/>
              </a:ext>
            </a:extLst>
          </p:cNvPr>
          <p:cNvSpPr/>
          <p:nvPr/>
        </p:nvSpPr>
        <p:spPr>
          <a:xfrm>
            <a:off x="4846320" y="10972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UPPERCASE column names</a:t>
            </a:r>
            <a:endParaRPr lang="en-US" sz="1200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CBCA878A-6872-36CD-F4B3-0B25DAEB0832}"/>
              </a:ext>
            </a:extLst>
          </p:cNvPr>
          <p:cNvSpPr/>
          <p:nvPr/>
        </p:nvSpPr>
        <p:spPr>
          <a:xfrm>
            <a:off x="4846320" y="15544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Intervention / non-physical rows</a:t>
            </a:r>
            <a:endParaRPr lang="en-US" sz="1200"/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0B8D59CD-44EB-1619-7F48-62600F4E07EC}"/>
              </a:ext>
            </a:extLst>
          </p:cNvPr>
          <p:cNvSpPr/>
          <p:nvPr/>
        </p:nvSpPr>
        <p:spPr>
          <a:xfrm>
            <a:off x="4846320" y="20116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Possible duplicate keys</a:t>
            </a:r>
            <a:endParaRPr lang="en-US" sz="1200"/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64FA594D-0EE1-5001-12AA-862DCB0CE105}"/>
              </a:ext>
            </a:extLst>
          </p:cNvPr>
          <p:cNvSpPr/>
          <p:nvPr/>
        </p:nvSpPr>
        <p:spPr>
          <a:xfrm>
            <a:off x="4846320" y="24688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Missing or non-numeric cells</a:t>
            </a:r>
            <a:endParaRPr lang="en-US" sz="1200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84BAC01C-FE1A-E61F-C207-B5D874766858}"/>
              </a:ext>
            </a:extLst>
          </p:cNvPr>
          <p:cNvSpPr/>
          <p:nvPr/>
        </p:nvSpPr>
        <p:spPr>
          <a:xfrm>
            <a:off x="4846320" y="29260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Optional columns sometimes absent</a:t>
            </a:r>
            <a:endParaRPr lang="en-US" sz="1200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CEC384C9-087D-A1A3-9713-542681513939}"/>
              </a:ext>
            </a:extLst>
          </p:cNvPr>
          <p:cNvSpPr/>
          <p:nvPr/>
        </p:nvSpPr>
        <p:spPr>
          <a:xfrm>
            <a:off x="4846320" y="33832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Very large files for multi-year pull</a:t>
            </a:r>
            <a:endParaRPr lang="en-US" sz="1200"/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A796DCD1-D0A8-4E58-0E6D-900672EBFEE1}"/>
              </a:ext>
            </a:extLst>
          </p:cNvPr>
          <p:cNvSpPr/>
          <p:nvPr/>
        </p:nvSpPr>
        <p:spPr>
          <a:xfrm>
            <a:off x="4846320" y="38404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 model-ready without features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023747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1D550-CF59-1845-5A4E-FECCF5C35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DEE0280D-5600-D6FE-321D-6019DDB18A22}"/>
              </a:ext>
            </a:extLst>
          </p:cNvPr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>
                <a:solidFill>
                  <a:srgbClr val="94A3B8"/>
                </a:solidFill>
                <a:ea typeface="Calibri"/>
                <a:cs typeface="Calibri"/>
              </a:rPr>
              <a:t>Danala Group 8  ·  PRT661 Assessment 3  · 9/24</a:t>
            </a:r>
            <a:endParaRPr lang="en-US" sz="100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E0A94153-0F06-CABD-EFCF-F6315E849B3D}"/>
              </a:ext>
            </a:extLst>
          </p:cNvPr>
          <p:cNvSpPr/>
          <p:nvPr/>
        </p:nvSpPr>
        <p:spPr>
          <a:xfrm>
            <a:off x="320040" y="109728"/>
            <a:ext cx="8503920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700" b="1">
                <a:latin typeface="Calibri"/>
                <a:ea typeface="Calibri"/>
                <a:cs typeface="Calibri"/>
              </a:rPr>
              <a:t>Cleaning in detail (</a:t>
            </a:r>
            <a:r>
              <a:rPr lang="en-US" sz="1700" b="1" err="1">
                <a:latin typeface="Calibri"/>
                <a:ea typeface="Calibri"/>
                <a:cs typeface="Calibri"/>
              </a:rPr>
              <a:t>clean_data</a:t>
            </a:r>
            <a:r>
              <a:rPr lang="en-US" sz="1700" b="1">
                <a:ea typeface="Calibri"/>
                <a:cs typeface="Calibri"/>
              </a:rPr>
              <a:t>) |Dipesh</a:t>
            </a:r>
            <a:endParaRPr lang="en-US" sz="170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ECF62113-D04F-95D6-6355-BA719B3212C1}"/>
              </a:ext>
            </a:extLst>
          </p:cNvPr>
          <p:cNvSpPr/>
          <p:nvPr/>
        </p:nvSpPr>
        <p:spPr>
          <a:xfrm>
            <a:off x="274320" y="1097280"/>
            <a:ext cx="7657106" cy="3520440"/>
          </a:xfrm>
          <a:prstGeom prst="roundRect">
            <a:avLst>
              <a:gd name="adj" fmla="val 1778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444EABFF-717D-C977-EA2D-F8C222CC024F}"/>
              </a:ext>
            </a:extLst>
          </p:cNvPr>
          <p:cNvSpPr/>
          <p:nvPr/>
        </p:nvSpPr>
        <p:spPr>
          <a:xfrm>
            <a:off x="411480" y="6400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40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25A4E325-900C-ACC8-39CD-ABA429726062}"/>
              </a:ext>
            </a:extLst>
          </p:cNvPr>
          <p:cNvSpPr/>
          <p:nvPr/>
        </p:nvSpPr>
        <p:spPr>
          <a:xfrm>
            <a:off x="411480" y="1097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Rename → snake_case (rrp, totaldemand, …)</a:t>
            </a:r>
            <a:endParaRPr lang="en-US" sz="120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8EDED7C5-EEC1-6EBB-B5E5-44E226F8A448}"/>
              </a:ext>
            </a:extLst>
          </p:cNvPr>
          <p:cNvSpPr/>
          <p:nvPr/>
        </p:nvSpPr>
        <p:spPr>
          <a:xfrm>
            <a:off x="411480" y="15087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Filter INTERVENTION == 0 at extract</a:t>
            </a:r>
            <a:endParaRPr lang="en-US" sz="120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83BB5D77-B365-D9BC-25EA-1CA22DFC3B4F}"/>
              </a:ext>
            </a:extLst>
          </p:cNvPr>
          <p:cNvSpPr/>
          <p:nvPr/>
        </p:nvSpPr>
        <p:spPr>
          <a:xfrm>
            <a:off x="411480" y="19202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to_numeric on price, demand, gen fields</a:t>
            </a:r>
            <a:endParaRPr lang="en-US" sz="120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9D582334-6148-9835-0DD5-C35C7C62EF65}"/>
              </a:ext>
            </a:extLst>
          </p:cNvPr>
          <p:cNvSpPr/>
          <p:nvPr/>
        </p:nvSpPr>
        <p:spPr>
          <a:xfrm>
            <a:off x="411480" y="23317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20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</a:t>
            </a: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</a:t>
            </a:r>
            <a:r>
              <a:rPr lang="en-US" sz="120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settlementdate</a:t>
            </a: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regionid</a:t>
            </a: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rrp</a:t>
            </a: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demand</a:t>
            </a:r>
            <a:endParaRPr lang="en-US" sz="120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78E30768-98F5-DA75-3FF6-0E23F1F927B8}"/>
              </a:ext>
            </a:extLst>
          </p:cNvPr>
          <p:cNvSpPr/>
          <p:nvPr/>
        </p:nvSpPr>
        <p:spPr>
          <a:xfrm>
            <a:off x="411480" y="27432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20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drop_duplicates</a:t>
            </a: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(time, region)</a:t>
            </a:r>
            <a:endParaRPr lang="en-US" sz="120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571FBB7-CD69-37DF-1E04-40EC6272BA49}"/>
              </a:ext>
            </a:extLst>
          </p:cNvPr>
          <p:cNvSpPr/>
          <p:nvPr/>
        </p:nvSpPr>
        <p:spPr>
          <a:xfrm>
            <a:off x="411480" y="31546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Sort by time then region</a:t>
            </a:r>
            <a:endParaRPr lang="en-US" sz="120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A6E715AD-46FC-215F-3434-A954D34A6A68}"/>
              </a:ext>
            </a:extLst>
          </p:cNvPr>
          <p:cNvSpPr/>
          <p:nvPr/>
        </p:nvSpPr>
        <p:spPr>
          <a:xfrm>
            <a:off x="411480" y="35661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Defaults: </a:t>
            </a:r>
            <a:r>
              <a:rPr lang="en-US" sz="120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netinterchange</a:t>
            </a: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 if missing</a:t>
            </a:r>
            <a:endParaRPr lang="en-US" sz="120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A8E3B256-C981-7639-4AE1-7E22B64DBC11}"/>
              </a:ext>
            </a:extLst>
          </p:cNvPr>
          <p:cNvSpPr/>
          <p:nvPr/>
        </p:nvSpPr>
        <p:spPr>
          <a:xfrm>
            <a:off x="411480" y="39776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Keep generation cols for strategic path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948853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5D493-0250-E192-BD11-4EE48B4BE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9E26FE1B-24AC-216A-E241-7DC44A1BB715}"/>
              </a:ext>
            </a:extLst>
          </p:cNvPr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>
                <a:solidFill>
                  <a:srgbClr val="94A3B8"/>
                </a:solidFill>
                <a:ea typeface="Calibri"/>
                <a:cs typeface="Calibri"/>
              </a:rPr>
              <a:t>Danala Group 8  ·  PRT661 Assessment 3  · 10/24</a:t>
            </a:r>
            <a:endParaRPr lang="en-US" sz="100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3D23657C-56A0-72EB-AF9E-DBC4C9974F6F}"/>
              </a:ext>
            </a:extLst>
          </p:cNvPr>
          <p:cNvSpPr/>
          <p:nvPr/>
        </p:nvSpPr>
        <p:spPr>
          <a:xfrm>
            <a:off x="320040" y="109728"/>
            <a:ext cx="8503920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700" b="1">
                <a:latin typeface="Calibri"/>
                <a:ea typeface="Calibri"/>
                <a:cs typeface="Calibri"/>
              </a:rPr>
              <a:t>Feature </a:t>
            </a:r>
            <a:r>
              <a:rPr lang="en-US" sz="1700" b="1">
                <a:ea typeface="Calibri"/>
                <a:cs typeface="Calibri"/>
              </a:rPr>
              <a:t>engineering |Dipesh </a:t>
            </a:r>
            <a:endParaRPr lang="en-US" sz="170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5A85FBE8-DEC0-0C7C-0795-94B100C93371}"/>
              </a:ext>
            </a:extLst>
          </p:cNvPr>
          <p:cNvSpPr/>
          <p:nvPr/>
        </p:nvSpPr>
        <p:spPr>
          <a:xfrm>
            <a:off x="314864" y="632316"/>
            <a:ext cx="7500669" cy="3985404"/>
          </a:xfrm>
          <a:prstGeom prst="roundRect">
            <a:avLst>
              <a:gd name="adj" fmla="val 1778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EEE624DE-F57C-76A2-38AE-193502508A53}"/>
              </a:ext>
            </a:extLst>
          </p:cNvPr>
          <p:cNvSpPr/>
          <p:nvPr/>
        </p:nvSpPr>
        <p:spPr>
          <a:xfrm>
            <a:off x="365760" y="640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4527C471-D9DC-1DA5-B7EC-95C7D73FECDF}"/>
              </a:ext>
            </a:extLst>
          </p:cNvPr>
          <p:cNvSpPr/>
          <p:nvPr/>
        </p:nvSpPr>
        <p:spPr>
          <a:xfrm>
            <a:off x="2651760" y="640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meaning</a:t>
            </a:r>
            <a:endParaRPr lang="en-US" sz="110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96F6A6FE-33BD-ACA2-FC63-49FF08BE58EC}"/>
              </a:ext>
            </a:extLst>
          </p:cNvPr>
          <p:cNvSpPr/>
          <p:nvPr/>
        </p:nvSpPr>
        <p:spPr>
          <a:xfrm>
            <a:off x="5486400" y="640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 models / users</a:t>
            </a:r>
            <a:endParaRPr lang="en-US" sz="110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459CD6CC-ABDF-A0D3-6A30-3D4A817727F9}"/>
              </a:ext>
            </a:extLst>
          </p:cNvPr>
          <p:cNvSpPr/>
          <p:nvPr/>
        </p:nvSpPr>
        <p:spPr>
          <a:xfrm>
            <a:off x="365760" y="9601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demand_lag_1</a:t>
            </a:r>
            <a:endParaRPr lang="en-US" sz="110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3D3CBC1F-2611-A3D4-62BC-79CF209A79D6}"/>
              </a:ext>
            </a:extLst>
          </p:cNvPr>
          <p:cNvSpPr/>
          <p:nvPr/>
        </p:nvSpPr>
        <p:spPr>
          <a:xfrm>
            <a:off x="2651760" y="9601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5 min ago</a:t>
            </a:r>
            <a:endParaRPr lang="en-US" sz="110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217BB7A4-5455-7C30-8826-8040781F0986}"/>
              </a:ext>
            </a:extLst>
          </p:cNvPr>
          <p:cNvSpPr/>
          <p:nvPr/>
        </p:nvSpPr>
        <p:spPr>
          <a:xfrm>
            <a:off x="5486400" y="9601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very short-run level</a:t>
            </a:r>
            <a:endParaRPr lang="en-US" sz="110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AD98E607-329C-5D96-4D70-3DC1A6DC033E}"/>
              </a:ext>
            </a:extLst>
          </p:cNvPr>
          <p:cNvSpPr/>
          <p:nvPr/>
        </p:nvSpPr>
        <p:spPr>
          <a:xfrm>
            <a:off x="365760" y="13441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demand_lag_12</a:t>
            </a:r>
            <a:endParaRPr lang="en-US" sz="110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5D7B2623-13C0-3750-9615-1C38265DF2C2}"/>
              </a:ext>
            </a:extLst>
          </p:cNvPr>
          <p:cNvSpPr/>
          <p:nvPr/>
        </p:nvSpPr>
        <p:spPr>
          <a:xfrm>
            <a:off x="2651760" y="13441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1 hour ago</a:t>
            </a:r>
            <a:endParaRPr lang="en-US" sz="110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C03230F1-A54E-5E8C-211F-5266E733B21D}"/>
              </a:ext>
            </a:extLst>
          </p:cNvPr>
          <p:cNvSpPr/>
          <p:nvPr/>
        </p:nvSpPr>
        <p:spPr>
          <a:xfrm>
            <a:off x="5486400" y="13441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hourly shape</a:t>
            </a:r>
            <a:endParaRPr lang="en-US" sz="1100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673950CD-70EC-41BD-D856-EF3E8F15F4D7}"/>
              </a:ext>
            </a:extLst>
          </p:cNvPr>
          <p:cNvSpPr/>
          <p:nvPr/>
        </p:nvSpPr>
        <p:spPr>
          <a:xfrm>
            <a:off x="365760" y="172821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demand_lag_288</a:t>
            </a:r>
            <a:endParaRPr lang="en-US" sz="1100"/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6A718723-529D-173B-BB33-A36BDA0E86A1}"/>
              </a:ext>
            </a:extLst>
          </p:cNvPr>
          <p:cNvSpPr/>
          <p:nvPr/>
        </p:nvSpPr>
        <p:spPr>
          <a:xfrm>
            <a:off x="2651760" y="172821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~1 day ago</a:t>
            </a:r>
            <a:endParaRPr lang="en-US" sz="1100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B69D2F51-E01B-4B1F-3C29-00B2008FA985}"/>
              </a:ext>
            </a:extLst>
          </p:cNvPr>
          <p:cNvSpPr/>
          <p:nvPr/>
        </p:nvSpPr>
        <p:spPr>
          <a:xfrm>
            <a:off x="5486400" y="172821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cycle (same clock time)</a:t>
            </a:r>
            <a:endParaRPr lang="en-US" sz="1100"/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9B2B87AE-4DC4-8BD9-BFA1-0889CA9EF0BD}"/>
              </a:ext>
            </a:extLst>
          </p:cNvPr>
          <p:cNvSpPr/>
          <p:nvPr/>
        </p:nvSpPr>
        <p:spPr>
          <a:xfrm>
            <a:off x="365760" y="21122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price_lag_1 / 12</a:t>
            </a:r>
            <a:endParaRPr lang="en-US" sz="1100"/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F747D435-F746-D4B8-78BF-6A6F3F445A85}"/>
              </a:ext>
            </a:extLst>
          </p:cNvPr>
          <p:cNvSpPr/>
          <p:nvPr/>
        </p:nvSpPr>
        <p:spPr>
          <a:xfrm>
            <a:off x="2651760" y="21122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RRP</a:t>
            </a:r>
            <a:endParaRPr lang="en-US" sz="1100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F2379139-1A8C-F0C6-BC2D-F2DACB4CA418}"/>
              </a:ext>
            </a:extLst>
          </p:cNvPr>
          <p:cNvSpPr/>
          <p:nvPr/>
        </p:nvSpPr>
        <p:spPr>
          <a:xfrm>
            <a:off x="5486400" y="21122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persistence &amp; last hour</a:t>
            </a:r>
            <a:endParaRPr lang="en-US" sz="1100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EE3766B2-9013-08E3-FEBB-5A34EAC30C7F}"/>
              </a:ext>
            </a:extLst>
          </p:cNvPr>
          <p:cNvSpPr/>
          <p:nvPr/>
        </p:nvSpPr>
        <p:spPr>
          <a:xfrm>
            <a:off x="365760" y="24963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demand_roll_mean_12</a:t>
            </a:r>
            <a:endParaRPr lang="en-US" sz="1100"/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896A2DF1-1F00-89F4-DA2E-9F100F37B656}"/>
              </a:ext>
            </a:extLst>
          </p:cNvPr>
          <p:cNvSpPr/>
          <p:nvPr/>
        </p:nvSpPr>
        <p:spPr>
          <a:xfrm>
            <a:off x="2651760" y="24963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1-hour rolling mean</a:t>
            </a:r>
            <a:endParaRPr lang="en-US" sz="110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7C7C2034-D107-8833-C3CE-FE861F817014}"/>
              </a:ext>
            </a:extLst>
          </p:cNvPr>
          <p:cNvSpPr/>
          <p:nvPr/>
        </p:nvSpPr>
        <p:spPr>
          <a:xfrm>
            <a:off x="5486400" y="24963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local level</a:t>
            </a:r>
            <a:endParaRPr lang="en-US" sz="1100"/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E827A2CE-9EF8-53E2-4AF8-7BE9BB701DFA}"/>
              </a:ext>
            </a:extLst>
          </p:cNvPr>
          <p:cNvSpPr/>
          <p:nvPr/>
        </p:nvSpPr>
        <p:spPr>
          <a:xfrm>
            <a:off x="365760" y="28803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demand_roll_std_12</a:t>
            </a:r>
            <a:endParaRPr lang="en-US" sz="1100"/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15DCD8B0-5FE4-B384-9816-3002EA7E9E91}"/>
              </a:ext>
            </a:extLst>
          </p:cNvPr>
          <p:cNvSpPr/>
          <p:nvPr/>
        </p:nvSpPr>
        <p:spPr>
          <a:xfrm>
            <a:off x="2651760" y="2880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1-hour rolling std</a:t>
            </a:r>
            <a:endParaRPr lang="en-US" sz="1100"/>
          </a:p>
        </p:txBody>
      </p:sp>
      <p:sp>
        <p:nvSpPr>
          <p:cNvPr id="52" name="Text 24">
            <a:extLst>
              <a:ext uri="{FF2B5EF4-FFF2-40B4-BE49-F238E27FC236}">
                <a16:creationId xmlns:a16="http://schemas.microsoft.com/office/drawing/2014/main" id="{E7ACE113-A2E3-580C-50B2-BCB038598829}"/>
              </a:ext>
            </a:extLst>
          </p:cNvPr>
          <p:cNvSpPr/>
          <p:nvPr/>
        </p:nvSpPr>
        <p:spPr>
          <a:xfrm>
            <a:off x="5486400" y="28803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before spikes</a:t>
            </a:r>
            <a:endParaRPr lang="en-US" sz="1100"/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F183562C-E181-6145-EB50-F67C955B99E4}"/>
              </a:ext>
            </a:extLst>
          </p:cNvPr>
          <p:cNvSpPr/>
          <p:nvPr/>
        </p:nvSpPr>
        <p:spPr>
          <a:xfrm>
            <a:off x="365760" y="32644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netinterchange_lag_1</a:t>
            </a:r>
            <a:endParaRPr lang="en-US" sz="1100"/>
          </a:p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D6E2AEC3-919B-74B1-1070-E361D1AAF76D}"/>
              </a:ext>
            </a:extLst>
          </p:cNvPr>
          <p:cNvSpPr/>
          <p:nvPr/>
        </p:nvSpPr>
        <p:spPr>
          <a:xfrm>
            <a:off x="2651760" y="32644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interchange</a:t>
            </a:r>
            <a:endParaRPr lang="en-US" sz="1100"/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02A5CB82-AB01-23F5-3E02-10A0C3F16A4D}"/>
              </a:ext>
            </a:extLst>
          </p:cNvPr>
          <p:cNvSpPr/>
          <p:nvPr/>
        </p:nvSpPr>
        <p:spPr>
          <a:xfrm>
            <a:off x="5486400" y="32644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Import/export pressure</a:t>
            </a:r>
            <a:endParaRPr lang="en-US" sz="1100"/>
          </a:p>
        </p:txBody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94B1C68F-2175-31A7-3B4C-952724301A79}"/>
              </a:ext>
            </a:extLst>
          </p:cNvPr>
          <p:cNvSpPr/>
          <p:nvPr/>
        </p:nvSpPr>
        <p:spPr>
          <a:xfrm>
            <a:off x="365760" y="36484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hour, DOW, is_weekend</a:t>
            </a:r>
            <a:endParaRPr lang="en-US" sz="1100"/>
          </a:p>
        </p:txBody>
      </p:sp>
      <p:sp>
        <p:nvSpPr>
          <p:cNvPr id="62" name="Text 29">
            <a:extLst>
              <a:ext uri="{FF2B5EF4-FFF2-40B4-BE49-F238E27FC236}">
                <a16:creationId xmlns:a16="http://schemas.microsoft.com/office/drawing/2014/main" id="{974B82E0-6E6E-001B-95E2-FE5461018F5A}"/>
              </a:ext>
            </a:extLst>
          </p:cNvPr>
          <p:cNvSpPr/>
          <p:nvPr/>
        </p:nvSpPr>
        <p:spPr>
          <a:xfrm>
            <a:off x="2651760" y="36484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100"/>
          </a:p>
        </p:txBody>
      </p:sp>
      <p:sp>
        <p:nvSpPr>
          <p:cNvPr id="64" name="Text 30">
            <a:extLst>
              <a:ext uri="{FF2B5EF4-FFF2-40B4-BE49-F238E27FC236}">
                <a16:creationId xmlns:a16="http://schemas.microsoft.com/office/drawing/2014/main" id="{21243F63-911C-4017-D8A8-9480B2CEF004}"/>
              </a:ext>
            </a:extLst>
          </p:cNvPr>
          <p:cNvSpPr/>
          <p:nvPr/>
        </p:nvSpPr>
        <p:spPr>
          <a:xfrm>
            <a:off x="5486400" y="36484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peaks, weekend behaviour</a:t>
            </a:r>
            <a:endParaRPr lang="en-US" sz="1100"/>
          </a:p>
        </p:txBody>
      </p:sp>
      <p:sp>
        <p:nvSpPr>
          <p:cNvPr id="66" name="Text 31">
            <a:extLst>
              <a:ext uri="{FF2B5EF4-FFF2-40B4-BE49-F238E27FC236}">
                <a16:creationId xmlns:a16="http://schemas.microsoft.com/office/drawing/2014/main" id="{9A4B87C0-0C07-8888-06C5-89DD7A9FF9C8}"/>
              </a:ext>
            </a:extLst>
          </p:cNvPr>
          <p:cNvSpPr/>
          <p:nvPr/>
        </p:nvSpPr>
        <p:spPr>
          <a:xfrm>
            <a:off x="365760" y="403250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aemo_demand_error</a:t>
            </a:r>
            <a:endParaRPr lang="en-US" sz="1100"/>
          </a:p>
        </p:txBody>
      </p:sp>
      <p:sp>
        <p:nvSpPr>
          <p:cNvPr id="68" name="Text 32">
            <a:extLst>
              <a:ext uri="{FF2B5EF4-FFF2-40B4-BE49-F238E27FC236}">
                <a16:creationId xmlns:a16="http://schemas.microsoft.com/office/drawing/2014/main" id="{5850887D-64B1-7787-9AC7-5090945E247D}"/>
              </a:ext>
            </a:extLst>
          </p:cNvPr>
          <p:cNvSpPr/>
          <p:nvPr/>
        </p:nvSpPr>
        <p:spPr>
          <a:xfrm>
            <a:off x="2651760" y="40325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− DEMANDFORECAST</a:t>
            </a:r>
            <a:endParaRPr lang="en-US" sz="1100"/>
          </a:p>
        </p:txBody>
      </p:sp>
      <p:sp>
        <p:nvSpPr>
          <p:cNvPr id="70" name="Text 33">
            <a:extLst>
              <a:ext uri="{FF2B5EF4-FFF2-40B4-BE49-F238E27FC236}">
                <a16:creationId xmlns:a16="http://schemas.microsoft.com/office/drawing/2014/main" id="{729D29D0-E6D0-34D5-B4AF-35383D6ACD8D}"/>
              </a:ext>
            </a:extLst>
          </p:cNvPr>
          <p:cNvSpPr/>
          <p:nvPr/>
        </p:nvSpPr>
        <p:spPr>
          <a:xfrm>
            <a:off x="5486400" y="403250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prior AEMO 5-min miss occurred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380395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DB2DC-3759-5615-B2C6-27634FA80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5FA586C8-2E85-8DF8-3D7C-5972DD1CD4BE}"/>
              </a:ext>
            </a:extLst>
          </p:cNvPr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>
                <a:solidFill>
                  <a:srgbClr val="94A3B8"/>
                </a:solidFill>
                <a:ea typeface="Calibri"/>
                <a:cs typeface="Calibri"/>
              </a:rPr>
              <a:t>Danala Group 8  ·  PRT661 Assessment 3  · 11/24</a:t>
            </a:r>
            <a:endParaRPr lang="en-US" sz="100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3F727AB6-90EC-5424-027F-371ED38A558D}"/>
              </a:ext>
            </a:extLst>
          </p:cNvPr>
          <p:cNvSpPr/>
          <p:nvPr/>
        </p:nvSpPr>
        <p:spPr>
          <a:xfrm>
            <a:off x="320040" y="142077"/>
            <a:ext cx="7522666" cy="27854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700" b="1">
                <a:latin typeface="Calibri"/>
                <a:ea typeface="Calibri"/>
                <a:cs typeface="Calibri"/>
              </a:rPr>
              <a:t>Feature engineering — numeric </a:t>
            </a:r>
            <a:r>
              <a:rPr lang="en-US" sz="1700" b="1">
                <a:ea typeface="Calibri"/>
                <a:cs typeface="Calibri"/>
              </a:rPr>
              <a:t>examples |Dipesh</a:t>
            </a:r>
            <a:endParaRPr lang="en-US" sz="1700">
              <a:latin typeface="Calibri"/>
              <a:ea typeface="Calibri"/>
              <a:cs typeface="Calibri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3D54C7AD-CF5F-78DB-88AB-2B622A376A4E}"/>
              </a:ext>
            </a:extLst>
          </p:cNvPr>
          <p:cNvSpPr/>
          <p:nvPr/>
        </p:nvSpPr>
        <p:spPr>
          <a:xfrm>
            <a:off x="450874" y="4840253"/>
            <a:ext cx="7544232" cy="3962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000">
              <a:solidFill>
                <a:srgbClr val="94A3B8"/>
              </a:solidFill>
              <a:ea typeface="Calibri"/>
              <a:cs typeface="Calibri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90CDA1D5-8182-CCDB-03B2-3EC734038A41}"/>
              </a:ext>
            </a:extLst>
          </p:cNvPr>
          <p:cNvSpPr/>
          <p:nvPr/>
        </p:nvSpPr>
        <p:spPr>
          <a:xfrm>
            <a:off x="274320" y="1023092"/>
            <a:ext cx="7603323" cy="3548908"/>
          </a:xfrm>
          <a:prstGeom prst="roundRect">
            <a:avLst>
              <a:gd name="adj" fmla="val 1818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6C7C3EFA-CE58-7068-23BD-1D872D75D2C6}"/>
              </a:ext>
            </a:extLst>
          </p:cNvPr>
          <p:cNvSpPr/>
          <p:nvPr/>
        </p:nvSpPr>
        <p:spPr>
          <a:xfrm>
            <a:off x="457200" y="718149"/>
            <a:ext cx="7280695" cy="2876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NSW1 timeline (concept)</a:t>
            </a:r>
            <a:endParaRPr lang="en-US" sz="130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A4959D1F-BB6E-5CDB-23A1-4A06D8FFFA59}"/>
              </a:ext>
            </a:extLst>
          </p:cNvPr>
          <p:cNvSpPr/>
          <p:nvPr/>
        </p:nvSpPr>
        <p:spPr>
          <a:xfrm>
            <a:off x="457200" y="1509622"/>
            <a:ext cx="7280695" cy="27423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00:05  demand=7480  → demand_lag_1 = demand at 00:00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01:05  demand=7600  → demand_lag_12 ≈ demand one hour earlier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00:05 next day → demand_lag_288 ≈ same 00:05 yesterday (daily seasonality)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last 12 intervals demand std is high → roll_std_12 flags volatility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netinterchange was strongly negative → region was exporting; lag carries that signal</a:t>
            </a:r>
            <a:endParaRPr lang="en-US" sz="1300"/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use these columns in dwh.features; early rows with NaN lags are dropped so Ridge/HistGB can train.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411526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08-5211-C4EF-2E90-61AECF22A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1C872014-4335-2EFF-F6EA-5AE3EEB8CD7E}"/>
              </a:ext>
            </a:extLst>
          </p:cNvPr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>
                <a:solidFill>
                  <a:srgbClr val="94A3B8"/>
                </a:solidFill>
                <a:ea typeface="Calibri"/>
                <a:cs typeface="Calibri"/>
              </a:rPr>
              <a:t>Danala Group 8  ·  PRT661 Assessment 3  · 12/24</a:t>
            </a:r>
            <a:endParaRPr lang="en-US" sz="100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98434733-57E2-C870-E27E-83BBAEB6F476}"/>
              </a:ext>
            </a:extLst>
          </p:cNvPr>
          <p:cNvSpPr/>
          <p:nvPr/>
        </p:nvSpPr>
        <p:spPr>
          <a:xfrm>
            <a:off x="320040" y="142077"/>
            <a:ext cx="7522666" cy="27854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700" b="1">
                <a:latin typeface="Calibri"/>
                <a:ea typeface="Calibri"/>
                <a:cs typeface="Calibri"/>
              </a:rPr>
              <a:t>Model Justification |Dipesh</a:t>
            </a:r>
            <a:endParaRPr lang="en-US" sz="1700">
              <a:latin typeface="Calibri"/>
              <a:ea typeface="Calibri"/>
              <a:cs typeface="Calibri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CCF0CDCA-14E4-BA79-9D0F-1554B862952A}"/>
              </a:ext>
            </a:extLst>
          </p:cNvPr>
          <p:cNvSpPr/>
          <p:nvPr/>
        </p:nvSpPr>
        <p:spPr>
          <a:xfrm>
            <a:off x="450874" y="4840253"/>
            <a:ext cx="7544232" cy="3962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000">
              <a:solidFill>
                <a:srgbClr val="94A3B8"/>
              </a:solidFill>
              <a:ea typeface="Calibri"/>
              <a:cs typeface="Calibri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315BD599-CD9D-5124-19AB-675F5873B44E}"/>
              </a:ext>
            </a:extLst>
          </p:cNvPr>
          <p:cNvSpPr/>
          <p:nvPr/>
        </p:nvSpPr>
        <p:spPr>
          <a:xfrm>
            <a:off x="274320" y="1023092"/>
            <a:ext cx="7603323" cy="3548908"/>
          </a:xfrm>
          <a:prstGeom prst="roundRect">
            <a:avLst>
              <a:gd name="adj" fmla="val 1818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2212F686-4BDE-F518-153E-B2E7A0A4D1D1}"/>
              </a:ext>
            </a:extLst>
          </p:cNvPr>
          <p:cNvSpPr/>
          <p:nvPr/>
        </p:nvSpPr>
        <p:spPr>
          <a:xfrm>
            <a:off x="457200" y="1509622"/>
            <a:ext cx="7280695" cy="27423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A54C1FA-D507-E7BE-2600-ECCA5804AC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971402"/>
              </p:ext>
            </p:extLst>
          </p:nvPr>
        </p:nvGraphicFramePr>
        <p:xfrm>
          <a:off x="317451" y="1058590"/>
          <a:ext cx="7560192" cy="2113603"/>
        </p:xfrm>
        <a:graphic>
          <a:graphicData uri="http://schemas.openxmlformats.org/drawingml/2006/table">
            <a:tbl>
              <a:tblPr/>
              <a:tblGrid>
                <a:gridCol w="2387112">
                  <a:extLst>
                    <a:ext uri="{9D8B030D-6E8A-4147-A177-3AD203B41FA5}">
                      <a16:colId xmlns:a16="http://schemas.microsoft.com/office/drawing/2014/main" val="2817941341"/>
                    </a:ext>
                  </a:extLst>
                </a:gridCol>
                <a:gridCol w="5173080">
                  <a:extLst>
                    <a:ext uri="{9D8B030D-6E8A-4147-A177-3AD203B41FA5}">
                      <a16:colId xmlns:a16="http://schemas.microsoft.com/office/drawing/2014/main" val="1363454650"/>
                    </a:ext>
                  </a:extLst>
                </a:gridCol>
              </a:tblGrid>
              <a:tr h="203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marL="75868" marR="75868" marT="37934" marB="37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solidFill>
                            <a:schemeClr val="bg1"/>
                          </a:solidFill>
                        </a:rPr>
                        <a:t>Why it fits </a:t>
                      </a:r>
                      <a:r>
                        <a:rPr lang="en-AU" sz="1200" i="1">
                          <a:solidFill>
                            <a:schemeClr val="bg1"/>
                          </a:solidFill>
                        </a:rPr>
                        <a:t>this</a:t>
                      </a:r>
                      <a:r>
                        <a:rPr lang="en-AU" sz="1200">
                          <a:solidFill>
                            <a:schemeClr val="bg1"/>
                          </a:solidFill>
                        </a:rPr>
                        <a:t> problem</a:t>
                      </a:r>
                    </a:p>
                  </a:txBody>
                  <a:tcPr marL="75868" marR="75868" marT="37934" marB="37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108148"/>
                  </a:ext>
                </a:extLst>
              </a:tr>
              <a:tr h="574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solidFill>
                            <a:schemeClr val="bg1"/>
                          </a:solidFill>
                        </a:rPr>
                        <a:t>Seasonal Naive</a:t>
                      </a:r>
                      <a:endParaRPr lang="en-AU" sz="1200">
                        <a:solidFill>
                          <a:schemeClr val="bg1"/>
                        </a:solidFill>
                      </a:endParaRPr>
                    </a:p>
                  </a:txBody>
                  <a:tcPr marL="75868" marR="75868" marT="37934" marB="37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solidFill>
                            <a:schemeClr val="bg1"/>
                          </a:solidFill>
                        </a:rPr>
                        <a:t>NEM price and demand repeat strongly day-to-day. “Same interval yesterday” is a fair real-world baseline for a 5-minute market.</a:t>
                      </a:r>
                    </a:p>
                  </a:txBody>
                  <a:tcPr marL="75868" marR="75868" marT="37934" marB="37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558047"/>
                  </a:ext>
                </a:extLst>
              </a:tr>
              <a:tr h="7066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solidFill>
                            <a:schemeClr val="bg1"/>
                          </a:solidFill>
                        </a:rPr>
                        <a:t>Ridge</a:t>
                      </a:r>
                      <a:endParaRPr lang="en-AU" sz="1200">
                        <a:solidFill>
                          <a:schemeClr val="bg1"/>
                        </a:solidFill>
                      </a:endParaRPr>
                    </a:p>
                  </a:txBody>
                  <a:tcPr marL="75868" marR="75868" marT="37934" marB="37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solidFill>
                            <a:schemeClr val="bg1"/>
                          </a:solidFill>
                        </a:rPr>
                        <a:t>Our features are mostly linear effects (lags, hour-of-day, recent demand). Ridge uses them without overfitting when features are correlated.</a:t>
                      </a:r>
                    </a:p>
                  </a:txBody>
                  <a:tcPr marL="75868" marR="75868" marT="37934" marB="37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783929"/>
                  </a:ext>
                </a:extLst>
              </a:tr>
              <a:tr h="574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solidFill>
                            <a:schemeClr val="bg1"/>
                          </a:solidFill>
                        </a:rPr>
                        <a:t>HistGradientBoosting</a:t>
                      </a:r>
                      <a:endParaRPr lang="en-AU" sz="1200">
                        <a:solidFill>
                          <a:schemeClr val="bg1"/>
                        </a:solidFill>
                      </a:endParaRPr>
                    </a:p>
                  </a:txBody>
                  <a:tcPr marL="75868" marR="75868" marT="37934" marB="37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solidFill>
                            <a:schemeClr val="bg1"/>
                          </a:solidFill>
                        </a:rPr>
                        <a:t>Price spikes and region interactions are non-linear. Trees can split on high demand + tight interchange in ways a linear model cannot.</a:t>
                      </a:r>
                    </a:p>
                  </a:txBody>
                  <a:tcPr marL="75868" marR="75868" marT="37934" marB="37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60982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409D2B0-51D8-FE59-FC38-87212F3245CC}"/>
              </a:ext>
            </a:extLst>
          </p:cNvPr>
          <p:cNvSpPr txBox="1"/>
          <p:nvPr/>
        </p:nvSpPr>
        <p:spPr>
          <a:xfrm>
            <a:off x="274319" y="3234332"/>
            <a:ext cx="75601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>
                <a:solidFill>
                  <a:schemeClr val="bg1"/>
                </a:solidFill>
              </a:rPr>
              <a:t>Why not ARIMA</a:t>
            </a:r>
            <a:br>
              <a:rPr lang="en-AU" sz="1200">
                <a:solidFill>
                  <a:schemeClr val="bg1"/>
                </a:solidFill>
              </a:rPr>
            </a:br>
            <a:r>
              <a:rPr lang="en-AU" sz="1200">
                <a:solidFill>
                  <a:schemeClr val="bg1"/>
                </a:solidFill>
              </a:rPr>
              <a:t>Strong for one series; weaker when we need </a:t>
            </a:r>
            <a:r>
              <a:rPr lang="en-AU" sz="1200" b="1">
                <a:solidFill>
                  <a:schemeClr val="bg1"/>
                </a:solidFill>
              </a:rPr>
              <a:t>five regions</a:t>
            </a:r>
            <a:r>
              <a:rPr lang="en-AU" sz="1200">
                <a:solidFill>
                  <a:schemeClr val="bg1"/>
                </a:solidFill>
              </a:rPr>
              <a:t> and </a:t>
            </a:r>
            <a:r>
              <a:rPr lang="en-AU" sz="1200" b="1">
                <a:solidFill>
                  <a:schemeClr val="bg1"/>
                </a:solidFill>
              </a:rPr>
              <a:t>many exogenous features</a:t>
            </a:r>
            <a:r>
              <a:rPr lang="en-AU" sz="1200">
                <a:solidFill>
                  <a:schemeClr val="bg1"/>
                </a:solidFill>
              </a:rPr>
              <a:t> (lags, interchange, calendar) in one consistent pipeline.</a:t>
            </a:r>
          </a:p>
          <a:p>
            <a:r>
              <a:rPr lang="en-AU" sz="1200" b="1">
                <a:solidFill>
                  <a:schemeClr val="bg1"/>
                </a:solidFill>
              </a:rPr>
              <a:t>Why not LSTM</a:t>
            </a:r>
            <a:br>
              <a:rPr lang="en-AU" sz="1200">
                <a:solidFill>
                  <a:schemeClr val="bg1"/>
                </a:solidFill>
              </a:rPr>
            </a:br>
            <a:r>
              <a:rPr lang="en-AU" sz="1200">
                <a:solidFill>
                  <a:schemeClr val="bg1"/>
                </a:solidFill>
              </a:rPr>
              <a:t>Needs longer, denser sequences, more tuning, and heavier training. For short-horizon forecasts with clear engineered features, </a:t>
            </a:r>
            <a:r>
              <a:rPr lang="en-AU" sz="1200" err="1">
                <a:solidFill>
                  <a:schemeClr val="bg1"/>
                </a:solidFill>
              </a:rPr>
              <a:t>HistGB</a:t>
            </a:r>
            <a:r>
              <a:rPr lang="en-AU" sz="1200">
                <a:solidFill>
                  <a:schemeClr val="bg1"/>
                </a:solidFill>
              </a:rPr>
              <a:t> gives a better cost/benefit in our Docker retrain workflow.</a:t>
            </a:r>
          </a:p>
          <a:p>
            <a:endParaRPr lang="en-US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225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E1398-741F-93E6-0971-99A3BA03C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3D0BE8A2-4021-AFCE-7EFA-D992A4547E2A}"/>
              </a:ext>
            </a:extLst>
          </p:cNvPr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Danala Group 8  ·  PRT661 Assessment 3  ·  13/24</a:t>
            </a:r>
            <a:endParaRPr lang="en-US" sz="100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5DF1E4AA-1101-73B2-D491-3803E1620F39}"/>
              </a:ext>
            </a:extLst>
          </p:cNvPr>
          <p:cNvSpPr/>
          <p:nvPr/>
        </p:nvSpPr>
        <p:spPr>
          <a:xfrm>
            <a:off x="320040" y="131294"/>
            <a:ext cx="7544232" cy="2893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700" b="1">
                <a:latin typeface="Calibri"/>
                <a:ea typeface="Calibri"/>
                <a:cs typeface="Calibri"/>
              </a:rPr>
              <a:t>Operational dashboard — meaning &amp; </a:t>
            </a:r>
            <a:r>
              <a:rPr lang="en-US" sz="1700" b="1">
                <a:ea typeface="Calibri"/>
                <a:cs typeface="Calibri"/>
              </a:rPr>
              <a:t>actions |Dipesh</a:t>
            </a:r>
            <a:endParaRPr lang="en-US" sz="170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6685844C-988C-05FA-FBED-A701B46E57E4}"/>
              </a:ext>
            </a:extLst>
          </p:cNvPr>
          <p:cNvSpPr/>
          <p:nvPr/>
        </p:nvSpPr>
        <p:spPr>
          <a:xfrm>
            <a:off x="266803" y="615926"/>
            <a:ext cx="2101510" cy="4009558"/>
          </a:xfrm>
          <a:prstGeom prst="roundRect">
            <a:avLst>
              <a:gd name="adj" fmla="val 2286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DB5D6712-72E5-693D-1333-EB54169B785C}"/>
              </a:ext>
            </a:extLst>
          </p:cNvPr>
          <p:cNvSpPr/>
          <p:nvPr/>
        </p:nvSpPr>
        <p:spPr>
          <a:xfrm>
            <a:off x="347472" y="615926"/>
            <a:ext cx="1961739" cy="3880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Rising RRP → start gas peakers / hold hydro</a:t>
            </a:r>
            <a:endParaRPr lang="en-US" sz="110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1C271FD6-4F5F-FC8C-7DAC-EA74CED693B6}"/>
              </a:ext>
            </a:extLst>
          </p:cNvPr>
          <p:cNvSpPr/>
          <p:nvPr/>
        </p:nvSpPr>
        <p:spPr>
          <a:xfrm>
            <a:off x="347472" y="1091414"/>
            <a:ext cx="1961739" cy="3880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 demand share → focus that region</a:t>
            </a:r>
            <a:endParaRPr lang="en-US" sz="110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81F63DB9-4C32-6FCD-0D70-154710068F6F}"/>
              </a:ext>
            </a:extLst>
          </p:cNvPr>
          <p:cNvSpPr/>
          <p:nvPr/>
        </p:nvSpPr>
        <p:spPr>
          <a:xfrm>
            <a:off x="347472" y="1566902"/>
            <a:ext cx="1961739" cy="3880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Forecast up → prepare flexible plant</a:t>
            </a:r>
            <a:endParaRPr lang="en-US" sz="110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BB4FA311-0D97-ED43-77A7-088D51550DEC}"/>
              </a:ext>
            </a:extLst>
          </p:cNvPr>
          <p:cNvSpPr/>
          <p:nvPr/>
        </p:nvSpPr>
        <p:spPr>
          <a:xfrm>
            <a:off x="347472" y="2042390"/>
            <a:ext cx="1961739" cy="3880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Industry: delay furnaces/EV fleets on spikes</a:t>
            </a:r>
            <a:endParaRPr lang="en-US" sz="110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4A718295-29FF-3699-BAA5-E05ACB89AD51}"/>
              </a:ext>
            </a:extLst>
          </p:cNvPr>
          <p:cNvSpPr/>
          <p:nvPr/>
        </p:nvSpPr>
        <p:spPr>
          <a:xfrm>
            <a:off x="347472" y="2517878"/>
            <a:ext cx="1961739" cy="3880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Customers: shift EV/appliances off peak</a:t>
            </a:r>
            <a:endParaRPr lang="en-US" sz="110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CD5086A-8603-D362-EECB-914557973D73}"/>
              </a:ext>
            </a:extLst>
          </p:cNvPr>
          <p:cNvSpPr/>
          <p:nvPr/>
        </p:nvSpPr>
        <p:spPr>
          <a:xfrm>
            <a:off x="347472" y="2993366"/>
            <a:ext cx="1961739" cy="3880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Interchange stress → price coupling risk</a:t>
            </a:r>
            <a:endParaRPr lang="en-US" sz="110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BE92BA33-E23F-78DB-93CA-4FE6507A90C1}"/>
              </a:ext>
            </a:extLst>
          </p:cNvPr>
          <p:cNvSpPr/>
          <p:nvPr/>
        </p:nvSpPr>
        <p:spPr>
          <a:xfrm>
            <a:off x="347472" y="3468854"/>
            <a:ext cx="1961739" cy="3880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Daily upsert → decisions use fresh data</a:t>
            </a:r>
            <a:endParaRPr lang="en-US" sz="110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45CB7E0B-3107-529E-77F6-7A18914BDDDA}"/>
              </a:ext>
            </a:extLst>
          </p:cNvPr>
          <p:cNvSpPr/>
          <p:nvPr/>
        </p:nvSpPr>
        <p:spPr>
          <a:xfrm>
            <a:off x="347472" y="3944342"/>
            <a:ext cx="1961739" cy="3880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Solar midday often softer prices</a:t>
            </a:r>
            <a:endParaRPr lang="en-US" sz="1100"/>
          </a:p>
        </p:txBody>
      </p:sp>
      <p:pic>
        <p:nvPicPr>
          <p:cNvPr id="28" name="Image 0" descr="/tmp/dash_imgs/NEM_Operational-1.png">
            <a:extLst>
              <a:ext uri="{FF2B5EF4-FFF2-40B4-BE49-F238E27FC236}">
                <a16:creationId xmlns:a16="http://schemas.microsoft.com/office/drawing/2014/main" id="{F4E4E653-1EA9-25A6-0011-631B149A1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662" y="809761"/>
            <a:ext cx="5722834" cy="400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089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overview — meaning &amp; actions | Dilli</a:t>
            </a:r>
            <a:endParaRPr lang="en-US" sz="1700"/>
          </a:p>
        </p:txBody>
      </p:sp>
      <p:sp>
        <p:nvSpPr>
          <p:cNvPr id="4" name="Text 2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Danala Group 8  ·  PRT661 Assessment 3  ·  14/24</a:t>
            </a:r>
            <a:endParaRPr lang="en-US" sz="1000"/>
          </a:p>
        </p:txBody>
      </p:sp>
      <p:sp>
        <p:nvSpPr>
          <p:cNvPr id="5" name="Shape 3"/>
          <p:cNvSpPr/>
          <p:nvPr/>
        </p:nvSpPr>
        <p:spPr>
          <a:xfrm>
            <a:off x="228600" y="475488"/>
            <a:ext cx="3200400" cy="4160520"/>
          </a:xfrm>
          <a:prstGeom prst="roundRect">
            <a:avLst>
              <a:gd name="adj" fmla="val 2286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5943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Mean RRP ~$96: budget wholesale level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347472" y="106984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Peak ~18:00: evening is critical window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347472" y="154533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NSW often dearer than VIC: regional planning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347472" y="2020824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Spare capacity ↔ higher prices when tight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347472" y="249631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Operators: maintenance off structural peaks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347472" y="2971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Industry: design shifts around peak hours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347472" y="344728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Customers: TOU plans match evening peaks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347472" y="3922776"/>
            <a:ext cx="29718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•  87,725 hours: multi-year evidence base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pic>
        <p:nvPicPr>
          <p:cNvPr id="14" name="Image 0" descr="/tmp/dash_imgs/NEM_Strategic_overview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75488"/>
            <a:ext cx="5303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RRP trends — planning use | Dilli</a:t>
            </a:r>
            <a:endParaRPr lang="en-US" sz="1700"/>
          </a:p>
        </p:txBody>
      </p:sp>
      <p:sp>
        <p:nvSpPr>
          <p:cNvPr id="4" name="Text 2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Danala Group 8  ·  PRT661 Assessment 3  ·  15/24</a:t>
            </a:r>
            <a:endParaRPr lang="en-US" sz="1000"/>
          </a:p>
        </p:txBody>
      </p:sp>
      <p:sp>
        <p:nvSpPr>
          <p:cNvPr id="5" name="Shape 3"/>
          <p:cNvSpPr/>
          <p:nvPr/>
        </p:nvSpPr>
        <p:spPr>
          <a:xfrm>
            <a:off x="228600" y="475488"/>
            <a:ext cx="3200400" cy="4160520"/>
          </a:xfrm>
          <a:prstGeom prst="roundRect">
            <a:avLst>
              <a:gd name="adj" fmla="val 2286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5943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Who is structurally expensive?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347472" y="106984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Generators: where firming earns more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347472" y="154533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Industry: site flexible load carefully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347472" y="2020824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Retailers: regional product risk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347472" y="249631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Compare years for persistence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347472" y="2971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Supports hedge &amp; investment talks</a:t>
            </a:r>
            <a:endParaRPr lang="en-US" sz="1100"/>
          </a:p>
        </p:txBody>
      </p:sp>
      <p:pic>
        <p:nvPicPr>
          <p:cNvPr id="12" name="Image 0" descr="/tmp/dash_imgs/NEM_Strategic_overview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75488"/>
            <a:ext cx="5303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— schedule plant &amp; loads | Dilli</a:t>
            </a:r>
            <a:endParaRPr lang="en-US" sz="1700"/>
          </a:p>
        </p:txBody>
      </p:sp>
      <p:sp>
        <p:nvSpPr>
          <p:cNvPr id="4" name="Text 2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Danala Group 8  ·  PRT661 Assessment 3  ·  16/24</a:t>
            </a:r>
            <a:endParaRPr lang="en-US" sz="1000"/>
          </a:p>
        </p:txBody>
      </p:sp>
      <p:sp>
        <p:nvSpPr>
          <p:cNvPr id="5" name="Shape 3"/>
          <p:cNvSpPr/>
          <p:nvPr/>
        </p:nvSpPr>
        <p:spPr>
          <a:xfrm>
            <a:off x="228600" y="475488"/>
            <a:ext cx="3200400" cy="4160520"/>
          </a:xfrm>
          <a:prstGeom prst="roundRect">
            <a:avLst>
              <a:gd name="adj" fmla="val 2286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5943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Dark = typically expensive hours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347472" y="106984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Gas peakers: value in evening blocks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347472" y="154533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Solar: midday; may meet lower RRP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347472" y="2020824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Wind: avoid maintaining in peak blocks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347472" y="249631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Industry: batch work in pale hours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347472" y="2971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Households: charge EVs overnight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347472" y="344728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Retail TOU windows from this shape</a:t>
            </a:r>
            <a:endParaRPr lang="en-US" sz="1100"/>
          </a:p>
        </p:txBody>
      </p:sp>
      <p:pic>
        <p:nvPicPr>
          <p:cNvPr id="13" name="Image 0" descr="/tmp/dash_imgs/NEM_NSW_heatmap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75488"/>
            <a:ext cx="5303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&amp; interchange — system meaning | Dilli</a:t>
            </a:r>
            <a:endParaRPr lang="en-US" sz="1700"/>
          </a:p>
        </p:txBody>
      </p:sp>
      <p:sp>
        <p:nvSpPr>
          <p:cNvPr id="4" name="Text 2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Danala Group 8  ·  PRT661 Assessment 3  ·  17/24</a:t>
            </a:r>
            <a:endParaRPr lang="en-US" sz="1000"/>
          </a:p>
        </p:txBody>
      </p:sp>
      <p:sp>
        <p:nvSpPr>
          <p:cNvPr id="5" name="Shape 3"/>
          <p:cNvSpPr/>
          <p:nvPr/>
        </p:nvSpPr>
        <p:spPr>
          <a:xfrm>
            <a:off x="228600" y="475488"/>
            <a:ext cx="3200400" cy="4160520"/>
          </a:xfrm>
          <a:prstGeom prst="roundRect">
            <a:avLst>
              <a:gd name="adj" fmla="val 2286"/>
            </a:avLst>
          </a:prstGeom>
          <a:solidFill>
            <a:srgbClr val="141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5943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 semi-scheduled → more VRE variability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347472" y="106984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Need firming: gas, storage, interconnect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347472" y="154533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Low spare + high RRP = scarcity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347472" y="2020824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Interchange shows import/export stress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347472" y="249631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Import regions: higher price risk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347472" y="2971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Case for storage &amp; demand response</a:t>
            </a:r>
            <a:endParaRPr lang="en-US" sz="1100"/>
          </a:p>
        </p:txBody>
      </p:sp>
      <p:pic>
        <p:nvPicPr>
          <p:cNvPr id="12" name="Image 0" descr="/tmp/dash_imgs/NEM_generation_capacity_interchange_spare_2025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75488"/>
            <a:ext cx="5303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CA8FB087-F5A4-84FC-ABD6-281BE1EECBB6}"/>
              </a:ext>
            </a:extLst>
          </p:cNvPr>
          <p:cNvGrpSpPr/>
          <p:nvPr/>
        </p:nvGrpSpPr>
        <p:grpSpPr>
          <a:xfrm>
            <a:off x="114300" y="215153"/>
            <a:ext cx="8498541" cy="4881282"/>
            <a:chOff x="228600" y="109728"/>
            <a:chExt cx="8595360" cy="4974336"/>
          </a:xfrm>
        </p:grpSpPr>
        <p:sp>
          <p:nvSpPr>
            <p:cNvPr id="31" name="Text 1">
              <a:extLst>
                <a:ext uri="{FF2B5EF4-FFF2-40B4-BE49-F238E27FC236}">
                  <a16:creationId xmlns:a16="http://schemas.microsoft.com/office/drawing/2014/main" id="{1527CAAC-00F2-950E-3EFB-9244D8F1D053}"/>
                </a:ext>
              </a:extLst>
            </p:cNvPr>
            <p:cNvSpPr/>
            <p:nvPr/>
          </p:nvSpPr>
          <p:spPr>
            <a:xfrm>
              <a:off x="320040" y="109728"/>
              <a:ext cx="85039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700" b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 metrics | Roshan</a:t>
              </a:r>
              <a:endParaRPr lang="en-US" sz="1700"/>
            </a:p>
          </p:txBody>
        </p:sp>
        <p:sp>
          <p:nvSpPr>
            <p:cNvPr id="33" name="Text 2">
              <a:extLst>
                <a:ext uri="{FF2B5EF4-FFF2-40B4-BE49-F238E27FC236}">
                  <a16:creationId xmlns:a16="http://schemas.microsoft.com/office/drawing/2014/main" id="{1D0C9AA3-2834-7BAE-5B10-D2A3F4158255}"/>
                </a:ext>
              </a:extLst>
            </p:cNvPr>
            <p:cNvSpPr/>
            <p:nvPr/>
          </p:nvSpPr>
          <p:spPr>
            <a:xfrm>
              <a:off x="320040" y="4828032"/>
              <a:ext cx="85039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Danala Group 8  ·  PRT661 Assessment 3  ·  18/24</a:t>
              </a:r>
              <a:endParaRPr lang="en-US" sz="1000"/>
            </a:p>
          </p:txBody>
        </p:sp>
        <p:sp>
          <p:nvSpPr>
            <p:cNvPr id="35" name="Shape 3">
              <a:extLst>
                <a:ext uri="{FF2B5EF4-FFF2-40B4-BE49-F238E27FC236}">
                  <a16:creationId xmlns:a16="http://schemas.microsoft.com/office/drawing/2014/main" id="{57FB5DF8-DB6E-5465-8367-5C990B690900}"/>
                </a:ext>
              </a:extLst>
            </p:cNvPr>
            <p:cNvSpPr/>
            <p:nvPr/>
          </p:nvSpPr>
          <p:spPr>
            <a:xfrm>
              <a:off x="228600" y="475488"/>
              <a:ext cx="3200400" cy="4160520"/>
            </a:xfrm>
            <a:prstGeom prst="roundRect">
              <a:avLst>
                <a:gd name="adj" fmla="val 2286"/>
              </a:avLst>
            </a:prstGeom>
            <a:solidFill>
              <a:srgbClr val="141E3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4">
              <a:extLst>
                <a:ext uri="{FF2B5EF4-FFF2-40B4-BE49-F238E27FC236}">
                  <a16:creationId xmlns:a16="http://schemas.microsoft.com/office/drawing/2014/main" id="{1C9E7C77-DCBD-77E7-4EFD-BB28E8BCFF5D}"/>
                </a:ext>
              </a:extLst>
            </p:cNvPr>
            <p:cNvSpPr/>
            <p:nvPr/>
          </p:nvSpPr>
          <p:spPr>
            <a:xfrm>
              <a:off x="347472" y="594360"/>
              <a:ext cx="2971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 MAE ~$48 typical RRP error</a:t>
              </a:r>
              <a:endParaRPr lang="en-US" sz="1100"/>
            </a:p>
          </p:txBody>
        </p:sp>
        <p:sp>
          <p:nvSpPr>
            <p:cNvPr id="39" name="Text 5">
              <a:extLst>
                <a:ext uri="{FF2B5EF4-FFF2-40B4-BE49-F238E27FC236}">
                  <a16:creationId xmlns:a16="http://schemas.microsoft.com/office/drawing/2014/main" id="{9A611CF1-C3FF-1E3E-9349-49DD07FA564B}"/>
                </a:ext>
              </a:extLst>
            </p:cNvPr>
            <p:cNvSpPr/>
            <p:nvPr/>
          </p:nvSpPr>
          <p:spPr>
            <a:xfrm>
              <a:off x="347472" y="1069848"/>
              <a:ext cx="2971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 Low R²: spikes hard to nail</a:t>
              </a:r>
              <a:endParaRPr lang="en-US" sz="1100"/>
            </a:p>
          </p:txBody>
        </p:sp>
        <p:sp>
          <p:nvSpPr>
            <p:cNvPr id="41" name="Text 6">
              <a:extLst>
                <a:ext uri="{FF2B5EF4-FFF2-40B4-BE49-F238E27FC236}">
                  <a16:creationId xmlns:a16="http://schemas.microsoft.com/office/drawing/2014/main" id="{52F4FDCA-F77B-74AC-8DC7-2425BCE0BCA6}"/>
                </a:ext>
              </a:extLst>
            </p:cNvPr>
            <p:cNvSpPr/>
            <p:nvPr/>
          </p:nvSpPr>
          <p:spPr>
            <a:xfrm>
              <a:off x="347472" y="1545336"/>
              <a:ext cx="2971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 HistGB slightly better than Ridge</a:t>
              </a:r>
              <a:endParaRPr lang="en-US" sz="1100"/>
            </a:p>
          </p:txBody>
        </p:sp>
        <p:sp>
          <p:nvSpPr>
            <p:cNvPr id="43" name="Text 7">
              <a:extLst>
                <a:ext uri="{FF2B5EF4-FFF2-40B4-BE49-F238E27FC236}">
                  <a16:creationId xmlns:a16="http://schemas.microsoft.com/office/drawing/2014/main" id="{6C79052E-85C9-D6CF-CF8A-A9A2DE5A8617}"/>
                </a:ext>
              </a:extLst>
            </p:cNvPr>
            <p:cNvSpPr/>
            <p:nvPr/>
          </p:nvSpPr>
          <p:spPr>
            <a:xfrm>
              <a:off x="347472" y="2020824"/>
              <a:ext cx="2971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 Regime acc ~0.70: high/spike alerts</a:t>
              </a:r>
              <a:endParaRPr lang="en-US" sz="1100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289FFDA4-B344-09F2-C998-DBBBFA006706}"/>
                </a:ext>
              </a:extLst>
            </p:cNvPr>
            <p:cNvSpPr/>
            <p:nvPr/>
          </p:nvSpPr>
          <p:spPr>
            <a:xfrm>
              <a:off x="347472" y="2496312"/>
              <a:ext cx="2971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 Ops: risk signal, not perfect schedule</a:t>
              </a:r>
              <a:endParaRPr lang="en-US" sz="1100"/>
            </a:p>
          </p:txBody>
        </p:sp>
        <p:sp>
          <p:nvSpPr>
            <p:cNvPr id="47" name="Text 9">
              <a:extLst>
                <a:ext uri="{FF2B5EF4-FFF2-40B4-BE49-F238E27FC236}">
                  <a16:creationId xmlns:a16="http://schemas.microsoft.com/office/drawing/2014/main" id="{71540D6E-1968-A939-AAF3-9486377EEF4D}"/>
                </a:ext>
              </a:extLst>
            </p:cNvPr>
            <p:cNvSpPr/>
            <p:nvPr/>
          </p:nvSpPr>
          <p:spPr>
            <a:xfrm>
              <a:off x="347472" y="2971800"/>
              <a:ext cx="2971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 Industry: flexible load windows</a:t>
              </a:r>
              <a:endParaRPr lang="en-US" sz="1100"/>
            </a:p>
          </p:txBody>
        </p:sp>
        <p:sp>
          <p:nvSpPr>
            <p:cNvPr id="49" name="Text 10">
              <a:extLst>
                <a:ext uri="{FF2B5EF4-FFF2-40B4-BE49-F238E27FC236}">
                  <a16:creationId xmlns:a16="http://schemas.microsoft.com/office/drawing/2014/main" id="{1C6F6DDC-3B7B-4D3C-C8CD-79AC89D00436}"/>
                </a:ext>
              </a:extLst>
            </p:cNvPr>
            <p:cNvSpPr/>
            <p:nvPr/>
          </p:nvSpPr>
          <p:spPr>
            <a:xfrm>
              <a:off x="347472" y="3447288"/>
              <a:ext cx="2971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 Retrain as daily data grows</a:t>
              </a:r>
              <a:endParaRPr lang="en-US" sz="1100"/>
            </a:p>
          </p:txBody>
        </p:sp>
        <p:pic>
          <p:nvPicPr>
            <p:cNvPr id="51" name="Image 0" descr="/tmp/dash_imgs/models_compare-1.png">
              <a:extLst>
                <a:ext uri="{FF2B5EF4-FFF2-40B4-BE49-F238E27FC236}">
                  <a16:creationId xmlns:a16="http://schemas.microsoft.com/office/drawing/2014/main" id="{F15318DD-5EF1-A685-3F91-CDB9BF29C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66160" y="719529"/>
              <a:ext cx="4777243" cy="39164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1769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46B71E1-FE94-1249-31C7-F222596C2F86}"/>
              </a:ext>
            </a:extLst>
          </p:cNvPr>
          <p:cNvGrpSpPr/>
          <p:nvPr/>
        </p:nvGrpSpPr>
        <p:grpSpPr>
          <a:xfrm>
            <a:off x="114300" y="84582"/>
            <a:ext cx="8503920" cy="4974336"/>
            <a:chOff x="320040" y="109728"/>
            <a:chExt cx="8503920" cy="4974336"/>
          </a:xfrm>
        </p:grpSpPr>
        <p:sp>
          <p:nvSpPr>
            <p:cNvPr id="5" name="Text 1">
              <a:extLst>
                <a:ext uri="{FF2B5EF4-FFF2-40B4-BE49-F238E27FC236}">
                  <a16:creationId xmlns:a16="http://schemas.microsoft.com/office/drawing/2014/main" id="{66639FA6-23E4-5DEC-392A-FB7B9CDB9E85}"/>
                </a:ext>
              </a:extLst>
            </p:cNvPr>
            <p:cNvSpPr/>
            <p:nvPr/>
          </p:nvSpPr>
          <p:spPr>
            <a:xfrm>
              <a:off x="320040" y="109728"/>
              <a:ext cx="85039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700" b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From chart → action by user type | Roshan</a:t>
              </a:r>
              <a:endParaRPr lang="en-US" sz="1700"/>
            </a:p>
          </p:txBody>
        </p:sp>
        <p:sp>
          <p:nvSpPr>
            <p:cNvPr id="6" name="Text 2">
              <a:extLst>
                <a:ext uri="{FF2B5EF4-FFF2-40B4-BE49-F238E27FC236}">
                  <a16:creationId xmlns:a16="http://schemas.microsoft.com/office/drawing/2014/main" id="{AA1E2B8D-F48A-6095-6ED2-624AC942CC5D}"/>
                </a:ext>
              </a:extLst>
            </p:cNvPr>
            <p:cNvSpPr/>
            <p:nvPr/>
          </p:nvSpPr>
          <p:spPr>
            <a:xfrm>
              <a:off x="320040" y="4828032"/>
              <a:ext cx="85039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Danala Group 8  ·  PRT661 Assessment 3  ·  19/24</a:t>
              </a:r>
              <a:endParaRPr lang="en-US" sz="1000"/>
            </a:p>
          </p:txBody>
        </p:sp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265A879B-B790-DE9F-747B-C06DAD6AEF30}"/>
                </a:ext>
              </a:extLst>
            </p:cNvPr>
            <p:cNvSpPr/>
            <p:nvPr/>
          </p:nvSpPr>
          <p:spPr>
            <a:xfrm>
              <a:off x="365760" y="594360"/>
              <a:ext cx="20116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User</a:t>
              </a:r>
              <a:endParaRPr lang="en-US" sz="1200"/>
            </a:p>
          </p:txBody>
        </p:sp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4171C857-2BD5-BD1B-9654-DA03BCAA37F5}"/>
                </a:ext>
              </a:extLst>
            </p:cNvPr>
            <p:cNvSpPr/>
            <p:nvPr/>
          </p:nvSpPr>
          <p:spPr>
            <a:xfrm>
              <a:off x="2468880" y="594360"/>
              <a:ext cx="3108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FBBF2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Operational</a:t>
              </a:r>
              <a:endParaRPr lang="en-US" sz="1200"/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53F37EA8-43E8-FB2D-E420-D00AD9F6C2A6}"/>
                </a:ext>
              </a:extLst>
            </p:cNvPr>
            <p:cNvSpPr/>
            <p:nvPr/>
          </p:nvSpPr>
          <p:spPr>
            <a:xfrm>
              <a:off x="5669280" y="594360"/>
              <a:ext cx="3108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38BDF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Strategic</a:t>
              </a:r>
              <a:endParaRPr lang="en-US" sz="1200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A46F0F09-3D84-8F29-6256-31A2E9CD55D7}"/>
                </a:ext>
              </a:extLst>
            </p:cNvPr>
            <p:cNvSpPr/>
            <p:nvPr/>
          </p:nvSpPr>
          <p:spPr>
            <a:xfrm>
              <a:off x="320040" y="1051560"/>
              <a:ext cx="8503920" cy="1051560"/>
            </a:xfrm>
            <a:prstGeom prst="roundRect">
              <a:avLst>
                <a:gd name="adj" fmla="val 6957"/>
              </a:avLst>
            </a:prstGeom>
            <a:solidFill>
              <a:srgbClr val="141E3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817C6307-8C28-FD7B-E8EE-BC8D44323791}"/>
                </a:ext>
              </a:extLst>
            </p:cNvPr>
            <p:cNvSpPr/>
            <p:nvPr/>
          </p:nvSpPr>
          <p:spPr>
            <a:xfrm>
              <a:off x="457200" y="137160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Energy operators</a:t>
              </a:r>
              <a:endParaRPr lang="en-US" sz="1300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48407700-D81D-3C67-D825-7899572969AB}"/>
                </a:ext>
              </a:extLst>
            </p:cNvPr>
            <p:cNvSpPr/>
            <p:nvPr/>
          </p:nvSpPr>
          <p:spPr>
            <a:xfrm>
              <a:off x="2468880" y="1280160"/>
              <a:ext cx="301752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Peakers, firm VRE, watch interchange</a:t>
              </a:r>
              <a:endParaRPr lang="en-US" sz="1200"/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525F91FA-E75C-6EE7-DA0D-5ACAC4530BA8}"/>
                </a:ext>
              </a:extLst>
            </p:cNvPr>
            <p:cNvSpPr/>
            <p:nvPr/>
          </p:nvSpPr>
          <p:spPr>
            <a:xfrm>
              <a:off x="5669280" y="1280160"/>
              <a:ext cx="2926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Maintenance &amp; capacity at repeat peaks</a:t>
              </a:r>
              <a:endParaRPr lang="en-US" sz="1200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33F2C36F-7C69-C9D2-1E49-94DBEE740870}"/>
                </a:ext>
              </a:extLst>
            </p:cNvPr>
            <p:cNvSpPr/>
            <p:nvPr/>
          </p:nvSpPr>
          <p:spPr>
            <a:xfrm>
              <a:off x="320040" y="2194560"/>
              <a:ext cx="8503920" cy="1051560"/>
            </a:xfrm>
            <a:prstGeom prst="roundRect">
              <a:avLst>
                <a:gd name="adj" fmla="val 6957"/>
              </a:avLst>
            </a:prstGeom>
            <a:solidFill>
              <a:srgbClr val="141E3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FE359561-8D1F-92BD-12CC-C86983B5BC91}"/>
                </a:ext>
              </a:extLst>
            </p:cNvPr>
            <p:cNvSpPr/>
            <p:nvPr/>
          </p:nvSpPr>
          <p:spPr>
            <a:xfrm>
              <a:off x="457200" y="251460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Big industry</a:t>
              </a:r>
              <a:endParaRPr lang="en-US" sz="1300"/>
            </a:p>
          </p:txBody>
        </p:sp>
        <p:sp>
          <p:nvSpPr>
            <p:cNvPr id="16" name="Text 12">
              <a:extLst>
                <a:ext uri="{FF2B5EF4-FFF2-40B4-BE49-F238E27FC236}">
                  <a16:creationId xmlns:a16="http://schemas.microsoft.com/office/drawing/2014/main" id="{49DA8B4D-47BF-F028-2326-CC431D5BE817}"/>
                </a:ext>
              </a:extLst>
            </p:cNvPr>
            <p:cNvSpPr/>
            <p:nvPr/>
          </p:nvSpPr>
          <p:spPr>
            <a:xfrm>
              <a:off x="2468880" y="2423160"/>
              <a:ext cx="301752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Shift MW off spike hours today</a:t>
              </a:r>
              <a:endParaRPr lang="en-US" sz="1200"/>
            </a:p>
          </p:txBody>
        </p:sp>
        <p:sp>
          <p:nvSpPr>
            <p:cNvPr id="17" name="Text 13">
              <a:extLst>
                <a:ext uri="{FF2B5EF4-FFF2-40B4-BE49-F238E27FC236}">
                  <a16:creationId xmlns:a16="http://schemas.microsoft.com/office/drawing/2014/main" id="{A50410C8-46C1-A0B2-39EA-E901E498EECD}"/>
                </a:ext>
              </a:extLst>
            </p:cNvPr>
            <p:cNvSpPr/>
            <p:nvPr/>
          </p:nvSpPr>
          <p:spPr>
            <a:xfrm>
              <a:off x="5669280" y="2423160"/>
              <a:ext cx="2926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Redesign shifts / hedges multi-year</a:t>
              </a:r>
              <a:endParaRPr lang="en-US" sz="1200"/>
            </a:p>
          </p:txBody>
        </p:sp>
        <p:sp>
          <p:nvSpPr>
            <p:cNvPr id="18" name="Shape 14">
              <a:extLst>
                <a:ext uri="{FF2B5EF4-FFF2-40B4-BE49-F238E27FC236}">
                  <a16:creationId xmlns:a16="http://schemas.microsoft.com/office/drawing/2014/main" id="{722A2790-3556-32C9-71C4-D2ABC06E791E}"/>
                </a:ext>
              </a:extLst>
            </p:cNvPr>
            <p:cNvSpPr/>
            <p:nvPr/>
          </p:nvSpPr>
          <p:spPr>
            <a:xfrm>
              <a:off x="320040" y="3337560"/>
              <a:ext cx="8503920" cy="1051560"/>
            </a:xfrm>
            <a:prstGeom prst="roundRect">
              <a:avLst>
                <a:gd name="adj" fmla="val 6957"/>
              </a:avLst>
            </a:prstGeom>
            <a:solidFill>
              <a:srgbClr val="141E3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5">
              <a:extLst>
                <a:ext uri="{FF2B5EF4-FFF2-40B4-BE49-F238E27FC236}">
                  <a16:creationId xmlns:a16="http://schemas.microsoft.com/office/drawing/2014/main" id="{1EC66100-3C5A-D3BF-EB19-35F7A00D5CC6}"/>
                </a:ext>
              </a:extLst>
            </p:cNvPr>
            <p:cNvSpPr/>
            <p:nvPr/>
          </p:nvSpPr>
          <p:spPr>
            <a:xfrm>
              <a:off x="457200" y="365760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Customers</a:t>
              </a:r>
              <a:endParaRPr lang="en-US" sz="1300"/>
            </a:p>
          </p:txBody>
        </p:sp>
        <p:sp>
          <p:nvSpPr>
            <p:cNvPr id="20" name="Text 16">
              <a:extLst>
                <a:ext uri="{FF2B5EF4-FFF2-40B4-BE49-F238E27FC236}">
                  <a16:creationId xmlns:a16="http://schemas.microsoft.com/office/drawing/2014/main" id="{4BAAE32B-3A6F-5018-83DA-29A9B6BE2173}"/>
                </a:ext>
              </a:extLst>
            </p:cNvPr>
            <p:cNvSpPr/>
            <p:nvPr/>
          </p:nvSpPr>
          <p:spPr>
            <a:xfrm>
              <a:off x="2468880" y="3566160"/>
              <a:ext cx="301752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Delay EV/appliances when RRP high</a:t>
              </a:r>
              <a:endParaRPr lang="en-US" sz="1200"/>
            </a:p>
          </p:txBody>
        </p:sp>
        <p:sp>
          <p:nvSpPr>
            <p:cNvPr id="21" name="Text 17">
              <a:extLst>
                <a:ext uri="{FF2B5EF4-FFF2-40B4-BE49-F238E27FC236}">
                  <a16:creationId xmlns:a16="http://schemas.microsoft.com/office/drawing/2014/main" id="{458706EE-2808-0238-999A-2A9194375AC6}"/>
                </a:ext>
              </a:extLst>
            </p:cNvPr>
            <p:cNvSpPr/>
            <p:nvPr/>
          </p:nvSpPr>
          <p:spPr>
            <a:xfrm>
              <a:off x="5669280" y="3566160"/>
              <a:ext cx="29260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TOU plans aligned with evening peaks</a:t>
              </a:r>
              <a:endParaRPr 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3278581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A5A8FBC-DF99-CBB9-6A1B-C73E8581403D}"/>
              </a:ext>
            </a:extLst>
          </p:cNvPr>
          <p:cNvGrpSpPr/>
          <p:nvPr/>
        </p:nvGrpSpPr>
        <p:grpSpPr>
          <a:xfrm>
            <a:off x="125056" y="128823"/>
            <a:ext cx="8503921" cy="4974336"/>
            <a:chOff x="320039" y="109728"/>
            <a:chExt cx="8503921" cy="4974336"/>
          </a:xfrm>
        </p:grpSpPr>
        <p:sp>
          <p:nvSpPr>
            <p:cNvPr id="5" name="Shape 0">
              <a:extLst>
                <a:ext uri="{FF2B5EF4-FFF2-40B4-BE49-F238E27FC236}">
                  <a16:creationId xmlns:a16="http://schemas.microsoft.com/office/drawing/2014/main" id="{4D515373-DEC6-F77F-C016-CFEDF6688BEE}"/>
                </a:ext>
              </a:extLst>
            </p:cNvPr>
            <p:cNvSpPr/>
            <p:nvPr/>
          </p:nvSpPr>
          <p:spPr>
            <a:xfrm>
              <a:off x="320040" y="553792"/>
              <a:ext cx="6956523" cy="2125014"/>
            </a:xfrm>
            <a:prstGeom prst="rect">
              <a:avLst/>
            </a:prstGeom>
            <a:solidFill>
              <a:srgbClr val="0B122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1">
              <a:extLst>
                <a:ext uri="{FF2B5EF4-FFF2-40B4-BE49-F238E27FC236}">
                  <a16:creationId xmlns:a16="http://schemas.microsoft.com/office/drawing/2014/main" id="{EC3FCC6A-BF36-7FFB-FDC2-9B860F1A9451}"/>
                </a:ext>
              </a:extLst>
            </p:cNvPr>
            <p:cNvSpPr/>
            <p:nvPr/>
          </p:nvSpPr>
          <p:spPr>
            <a:xfrm>
              <a:off x="320040" y="109728"/>
              <a:ext cx="85039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700" b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Challenges &amp; solutions | Roshan</a:t>
              </a:r>
              <a:endParaRPr lang="en-US" sz="1700"/>
            </a:p>
          </p:txBody>
        </p:sp>
        <p:sp>
          <p:nvSpPr>
            <p:cNvPr id="7" name="Text 2">
              <a:extLst>
                <a:ext uri="{FF2B5EF4-FFF2-40B4-BE49-F238E27FC236}">
                  <a16:creationId xmlns:a16="http://schemas.microsoft.com/office/drawing/2014/main" id="{72A03B76-734B-C633-CBF2-641002C7264E}"/>
                </a:ext>
              </a:extLst>
            </p:cNvPr>
            <p:cNvSpPr/>
            <p:nvPr/>
          </p:nvSpPr>
          <p:spPr>
            <a:xfrm>
              <a:off x="320040" y="4828032"/>
              <a:ext cx="85039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Danala Group 8  ·  PRT661 Assessment 3  ·  20/24</a:t>
              </a:r>
              <a:endParaRPr lang="en-US" sz="1000"/>
            </a:p>
          </p:txBody>
        </p:sp>
        <p:sp>
          <p:nvSpPr>
            <p:cNvPr id="8" name="Text 3">
              <a:extLst>
                <a:ext uri="{FF2B5EF4-FFF2-40B4-BE49-F238E27FC236}">
                  <a16:creationId xmlns:a16="http://schemas.microsoft.com/office/drawing/2014/main" id="{0B7D96F3-4EB9-2F14-6460-64F70CEE96B9}"/>
                </a:ext>
              </a:extLst>
            </p:cNvPr>
            <p:cNvSpPr/>
            <p:nvPr/>
          </p:nvSpPr>
          <p:spPr>
            <a:xfrm>
              <a:off x="457200" y="685800"/>
              <a:ext cx="27432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FBBF2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Port / drivers</a:t>
              </a:r>
              <a:endParaRPr lang="en-US" sz="1300"/>
            </a:p>
          </p:txBody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5FEA5DE3-FB96-3955-9131-06CA2B978B92}"/>
                </a:ext>
              </a:extLst>
            </p:cNvPr>
            <p:cNvSpPr/>
            <p:nvPr/>
          </p:nvSpPr>
          <p:spPr>
            <a:xfrm>
              <a:off x="3291840" y="685800"/>
              <a:ext cx="53949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Host 5433 · postgresql+psycopg://</a:t>
              </a:r>
              <a:endParaRPr lang="en-US" sz="1300"/>
            </a:p>
          </p:txBody>
        </p:sp>
        <p:sp>
          <p:nvSpPr>
            <p:cNvPr id="10" name="Text 5">
              <a:extLst>
                <a:ext uri="{FF2B5EF4-FFF2-40B4-BE49-F238E27FC236}">
                  <a16:creationId xmlns:a16="http://schemas.microsoft.com/office/drawing/2014/main" id="{4699C64B-B31A-F995-8263-A01E008F3CC9}"/>
                </a:ext>
              </a:extLst>
            </p:cNvPr>
            <p:cNvSpPr/>
            <p:nvPr/>
          </p:nvSpPr>
          <p:spPr>
            <a:xfrm>
              <a:off x="457200" y="941832"/>
              <a:ext cx="27432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FBBF2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Large extract</a:t>
              </a:r>
              <a:endParaRPr lang="en-US" sz="1300"/>
            </a:p>
          </p:txBody>
        </p:sp>
        <p:sp>
          <p:nvSpPr>
            <p:cNvPr id="11" name="Text 6">
              <a:extLst>
                <a:ext uri="{FF2B5EF4-FFF2-40B4-BE49-F238E27FC236}">
                  <a16:creationId xmlns:a16="http://schemas.microsoft.com/office/drawing/2014/main" id="{7EE07688-CA90-9919-2FC1-D152261CFC79}"/>
                </a:ext>
              </a:extLst>
            </p:cNvPr>
            <p:cNvSpPr/>
            <p:nvPr/>
          </p:nvSpPr>
          <p:spPr>
            <a:xfrm>
              <a:off x="3291840" y="941832"/>
              <a:ext cx="53949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NEMOSIS feather cache · skip-extract</a:t>
              </a:r>
              <a:endParaRPr lang="en-US" sz="1300"/>
            </a:p>
          </p:txBody>
        </p:sp>
        <p:sp>
          <p:nvSpPr>
            <p:cNvPr id="12" name="Text 7">
              <a:extLst>
                <a:ext uri="{FF2B5EF4-FFF2-40B4-BE49-F238E27FC236}">
                  <a16:creationId xmlns:a16="http://schemas.microsoft.com/office/drawing/2014/main" id="{1A1F24DA-1431-9E96-3244-215281C76BE8}"/>
                </a:ext>
              </a:extLst>
            </p:cNvPr>
            <p:cNvSpPr/>
            <p:nvPr/>
          </p:nvSpPr>
          <p:spPr>
            <a:xfrm>
              <a:off x="457200" y="1303020"/>
              <a:ext cx="27432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FBBF2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Daily upsert</a:t>
              </a:r>
              <a:endParaRPr lang="en-US" sz="1300"/>
            </a:p>
          </p:txBody>
        </p:sp>
        <p:sp>
          <p:nvSpPr>
            <p:cNvPr id="13" name="Text 8">
              <a:extLst>
                <a:ext uri="{FF2B5EF4-FFF2-40B4-BE49-F238E27FC236}">
                  <a16:creationId xmlns:a16="http://schemas.microsoft.com/office/drawing/2014/main" id="{3CCD1557-A8B1-7DDB-6C2B-93EB541539AD}"/>
                </a:ext>
              </a:extLst>
            </p:cNvPr>
            <p:cNvSpPr/>
            <p:nvPr/>
          </p:nvSpPr>
          <p:spPr>
            <a:xfrm>
              <a:off x="3291840" y="1303020"/>
              <a:ext cx="53949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Delete full calendar day then insert</a:t>
              </a:r>
              <a:endParaRPr lang="en-US" sz="1300"/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A64658A8-60D7-E266-D819-403D0BD077DD}"/>
                </a:ext>
              </a:extLst>
            </p:cNvPr>
            <p:cNvSpPr/>
            <p:nvPr/>
          </p:nvSpPr>
          <p:spPr>
            <a:xfrm>
              <a:off x="457200" y="1647015"/>
              <a:ext cx="27432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FBBF2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Price hard to fit</a:t>
              </a:r>
              <a:endParaRPr lang="en-US" sz="1300"/>
            </a:p>
          </p:txBody>
        </p:sp>
        <p:sp>
          <p:nvSpPr>
            <p:cNvPr id="15" name="Text 10">
              <a:extLst>
                <a:ext uri="{FF2B5EF4-FFF2-40B4-BE49-F238E27FC236}">
                  <a16:creationId xmlns:a16="http://schemas.microsoft.com/office/drawing/2014/main" id="{57F88869-2F00-1389-7255-214D50D50977}"/>
                </a:ext>
              </a:extLst>
            </p:cNvPr>
            <p:cNvSpPr/>
            <p:nvPr/>
          </p:nvSpPr>
          <p:spPr>
            <a:xfrm>
              <a:off x="3291840" y="1664208"/>
              <a:ext cx="53949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MAE/RMSE + regime labels for decisions</a:t>
              </a:r>
              <a:endParaRPr lang="en-US" sz="1300"/>
            </a:p>
          </p:txBody>
        </p:sp>
        <p:sp>
          <p:nvSpPr>
            <p:cNvPr id="16" name="Text 11">
              <a:extLst>
                <a:ext uri="{FF2B5EF4-FFF2-40B4-BE49-F238E27FC236}">
                  <a16:creationId xmlns:a16="http://schemas.microsoft.com/office/drawing/2014/main" id="{816578E0-57CC-574C-7F95-A3C98E33D951}"/>
                </a:ext>
              </a:extLst>
            </p:cNvPr>
            <p:cNvSpPr/>
            <p:nvPr/>
          </p:nvSpPr>
          <p:spPr>
            <a:xfrm>
              <a:off x="457200" y="1991010"/>
              <a:ext cx="27432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FBBF2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Feature </a:t>
              </a:r>
              <a:r>
                <a:rPr lang="en-US" sz="1300" b="1" err="1">
                  <a:solidFill>
                    <a:srgbClr val="FBBF2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NaNs</a:t>
              </a:r>
              <a:endParaRPr lang="en-US" sz="1300"/>
            </a:p>
          </p:txBody>
        </p:sp>
        <p:sp>
          <p:nvSpPr>
            <p:cNvPr id="17" name="Text 12">
              <a:extLst>
                <a:ext uri="{FF2B5EF4-FFF2-40B4-BE49-F238E27FC236}">
                  <a16:creationId xmlns:a16="http://schemas.microsoft.com/office/drawing/2014/main" id="{6525F60C-DF14-2440-DB23-B5C4CE776325}"/>
                </a:ext>
              </a:extLst>
            </p:cNvPr>
            <p:cNvSpPr/>
            <p:nvPr/>
          </p:nvSpPr>
          <p:spPr>
            <a:xfrm>
              <a:off x="3291840" y="2031450"/>
              <a:ext cx="53949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Drop early lag rows before Ridge/</a:t>
              </a:r>
              <a:r>
                <a:rPr lang="en-US" sz="1300" err="1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HistGB</a:t>
              </a:r>
              <a:endParaRPr lang="en-US" sz="13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B4218D6-81B4-B22B-1D7E-FDFE376DCF54}"/>
                </a:ext>
              </a:extLst>
            </p:cNvPr>
            <p:cNvSpPr txBox="1"/>
            <p:nvPr/>
          </p:nvSpPr>
          <p:spPr>
            <a:xfrm>
              <a:off x="320039" y="3053803"/>
              <a:ext cx="7046675" cy="1092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300" b="1"/>
                <a:t>Limitation</a:t>
              </a:r>
              <a:endParaRPr lang="en-AU" sz="1300"/>
            </a:p>
            <a:p>
              <a:r>
                <a:rPr lang="en-AU" sz="1300"/>
                <a:t>Concept: live dashboards + </a:t>
              </a:r>
              <a:r>
                <a:rPr lang="en-AU" sz="1300" err="1"/>
                <a:t>continous</a:t>
              </a:r>
              <a:r>
                <a:rPr lang="en-AU" sz="1300"/>
                <a:t> scheduled</a:t>
              </a:r>
            </a:p>
            <a:p>
              <a:r>
                <a:rPr lang="en-AU" sz="1300"/>
                <a:t>Reality: local Docker only — not cloud-hosted</a:t>
              </a:r>
            </a:p>
            <a:p>
              <a:r>
                <a:rPr lang="en-AU" sz="1300"/>
                <a:t>Airflow schedules run only when the local machine is powered on</a:t>
              </a:r>
            </a:p>
            <a:p>
              <a:endParaRPr lang="en-US" sz="1300"/>
            </a:p>
          </p:txBody>
        </p:sp>
      </p:grpSp>
    </p:spTree>
    <p:extLst>
      <p:ext uri="{BB962C8B-B14F-4D97-AF65-F5344CB8AC3E}">
        <p14:creationId xmlns:p14="http://schemas.microsoft.com/office/powerpoint/2010/main" val="3887423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C603459-55AF-D37C-1E25-31112C90EC77}"/>
              </a:ext>
            </a:extLst>
          </p:cNvPr>
          <p:cNvGrpSpPr/>
          <p:nvPr/>
        </p:nvGrpSpPr>
        <p:grpSpPr>
          <a:xfrm>
            <a:off x="91440" y="59974"/>
            <a:ext cx="8252460" cy="5023552"/>
            <a:chOff x="320040" y="109728"/>
            <a:chExt cx="8503920" cy="4974336"/>
          </a:xfrm>
        </p:grpSpPr>
        <p:sp>
          <p:nvSpPr>
            <p:cNvPr id="5" name="Text 1">
              <a:extLst>
                <a:ext uri="{FF2B5EF4-FFF2-40B4-BE49-F238E27FC236}">
                  <a16:creationId xmlns:a16="http://schemas.microsoft.com/office/drawing/2014/main" id="{C6CD5232-D1FB-32A2-9F04-47FD7E97E96C}"/>
                </a:ext>
              </a:extLst>
            </p:cNvPr>
            <p:cNvSpPr/>
            <p:nvPr/>
          </p:nvSpPr>
          <p:spPr>
            <a:xfrm>
              <a:off x="320040" y="109728"/>
              <a:ext cx="85039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700" b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Future work before Assessment 4 | Roshan</a:t>
              </a:r>
              <a:endParaRPr lang="en-US" sz="1700"/>
            </a:p>
          </p:txBody>
        </p:sp>
        <p:sp>
          <p:nvSpPr>
            <p:cNvPr id="6" name="Text 2">
              <a:extLst>
                <a:ext uri="{FF2B5EF4-FFF2-40B4-BE49-F238E27FC236}">
                  <a16:creationId xmlns:a16="http://schemas.microsoft.com/office/drawing/2014/main" id="{1D385C0F-68F3-D981-BC3F-685EA2AFE1C0}"/>
                </a:ext>
              </a:extLst>
            </p:cNvPr>
            <p:cNvSpPr/>
            <p:nvPr/>
          </p:nvSpPr>
          <p:spPr>
            <a:xfrm>
              <a:off x="320040" y="4828032"/>
              <a:ext cx="85039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Danala Group 8  ·  PRT661 Assessment 3  ·  21/24</a:t>
              </a:r>
              <a:endParaRPr lang="en-US" sz="1000"/>
            </a:p>
          </p:txBody>
        </p:sp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C79DE844-5912-BEC2-6782-575457079E20}"/>
                </a:ext>
              </a:extLst>
            </p:cNvPr>
            <p:cNvSpPr/>
            <p:nvPr/>
          </p:nvSpPr>
          <p:spPr>
            <a:xfrm>
              <a:off x="365760" y="822960"/>
              <a:ext cx="8412480" cy="777240"/>
            </a:xfrm>
            <a:prstGeom prst="roundRect">
              <a:avLst>
                <a:gd name="adj" fmla="val 9412"/>
              </a:avLst>
            </a:prstGeom>
            <a:solidFill>
              <a:srgbClr val="141E3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89F92D2C-A8B8-6D75-B000-F705DE22E104}"/>
                </a:ext>
              </a:extLst>
            </p:cNvPr>
            <p:cNvSpPr/>
            <p:nvPr/>
          </p:nvSpPr>
          <p:spPr>
            <a:xfrm>
              <a:off x="502920" y="1005840"/>
              <a:ext cx="81381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  Stabilise full multi-year load for markers</a:t>
              </a:r>
              <a:endParaRPr lang="en-US" sz="1500"/>
            </a:p>
          </p:txBody>
        </p:sp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80F52B60-4162-357F-AB59-DE7915832348}"/>
                </a:ext>
              </a:extLst>
            </p:cNvPr>
            <p:cNvSpPr/>
            <p:nvPr/>
          </p:nvSpPr>
          <p:spPr>
            <a:xfrm>
              <a:off x="365760" y="1691640"/>
              <a:ext cx="8412480" cy="777240"/>
            </a:xfrm>
            <a:prstGeom prst="roundRect">
              <a:avLst>
                <a:gd name="adj" fmla="val 9412"/>
              </a:avLst>
            </a:prstGeom>
            <a:solidFill>
              <a:srgbClr val="141E3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DC485FBC-C07A-5C15-A125-C9794DF0B7F0}"/>
                </a:ext>
              </a:extLst>
            </p:cNvPr>
            <p:cNvSpPr/>
            <p:nvPr/>
          </p:nvSpPr>
          <p:spPr>
            <a:xfrm>
              <a:off x="502920" y="1874520"/>
              <a:ext cx="81381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  Walk-forward evaluation in final report</a:t>
              </a:r>
              <a:endParaRPr lang="en-US" sz="1500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1E458B24-EA52-210F-4B0F-AA55E9644271}"/>
                </a:ext>
              </a:extLst>
            </p:cNvPr>
            <p:cNvSpPr/>
            <p:nvPr/>
          </p:nvSpPr>
          <p:spPr>
            <a:xfrm>
              <a:off x="365760" y="2560320"/>
              <a:ext cx="8412480" cy="777240"/>
            </a:xfrm>
            <a:prstGeom prst="roundRect">
              <a:avLst>
                <a:gd name="adj" fmla="val 9412"/>
              </a:avLst>
            </a:prstGeom>
            <a:solidFill>
              <a:srgbClr val="141E3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24426FAE-BB17-8872-1FAF-3606A523ACC4}"/>
                </a:ext>
              </a:extLst>
            </p:cNvPr>
            <p:cNvSpPr/>
            <p:nvPr/>
          </p:nvSpPr>
          <p:spPr>
            <a:xfrm>
              <a:off x="502920" y="2743200"/>
              <a:ext cx="81381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  Document horizon config (1h vs 12h)</a:t>
              </a:r>
              <a:endParaRPr lang="en-US" sz="1500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3BF84DE8-AB70-D5F7-09D1-7D43B8850D6E}"/>
                </a:ext>
              </a:extLst>
            </p:cNvPr>
            <p:cNvSpPr/>
            <p:nvPr/>
          </p:nvSpPr>
          <p:spPr>
            <a:xfrm>
              <a:off x="365760" y="3429000"/>
              <a:ext cx="8412480" cy="777240"/>
            </a:xfrm>
            <a:prstGeom prst="roundRect">
              <a:avLst>
                <a:gd name="adj" fmla="val 9412"/>
              </a:avLst>
            </a:prstGeom>
            <a:solidFill>
              <a:srgbClr val="141E3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0">
              <a:extLst>
                <a:ext uri="{FF2B5EF4-FFF2-40B4-BE49-F238E27FC236}">
                  <a16:creationId xmlns:a16="http://schemas.microsoft.com/office/drawing/2014/main" id="{18B5F989-F3D6-C746-6B47-C08C8AAF28E8}"/>
                </a:ext>
              </a:extLst>
            </p:cNvPr>
            <p:cNvSpPr/>
            <p:nvPr/>
          </p:nvSpPr>
          <p:spPr>
            <a:xfrm>
              <a:off x="502920" y="3611880"/>
              <a:ext cx="81381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4.  One-command clone-and-run README</a:t>
              </a:r>
              <a:endParaRPr lang="en-US" sz="1500"/>
            </a:p>
          </p:txBody>
        </p:sp>
      </p:grpSp>
    </p:spTree>
    <p:extLst>
      <p:ext uri="{BB962C8B-B14F-4D97-AF65-F5344CB8AC3E}">
        <p14:creationId xmlns:p14="http://schemas.microsoft.com/office/powerpoint/2010/main" val="8270002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B98DA5C-E798-1644-20C0-403C3D9DEAEF}"/>
              </a:ext>
            </a:extLst>
          </p:cNvPr>
          <p:cNvGrpSpPr/>
          <p:nvPr/>
        </p:nvGrpSpPr>
        <p:grpSpPr>
          <a:xfrm>
            <a:off x="57822" y="167012"/>
            <a:ext cx="8245736" cy="4976496"/>
            <a:chOff x="320040" y="109728"/>
            <a:chExt cx="8503920" cy="4974336"/>
          </a:xfrm>
        </p:grpSpPr>
        <p:sp>
          <p:nvSpPr>
            <p:cNvPr id="5" name="Text 1">
              <a:extLst>
                <a:ext uri="{FF2B5EF4-FFF2-40B4-BE49-F238E27FC236}">
                  <a16:creationId xmlns:a16="http://schemas.microsoft.com/office/drawing/2014/main" id="{1895B54A-E5AF-7248-CAC4-7D48A53CFC79}"/>
                </a:ext>
              </a:extLst>
            </p:cNvPr>
            <p:cNvSpPr/>
            <p:nvPr/>
          </p:nvSpPr>
          <p:spPr>
            <a:xfrm>
              <a:off x="320040" y="109728"/>
              <a:ext cx="85039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700" b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Repository | Roshan</a:t>
              </a:r>
              <a:endParaRPr lang="en-US" sz="1700"/>
            </a:p>
          </p:txBody>
        </p:sp>
        <p:sp>
          <p:nvSpPr>
            <p:cNvPr id="6" name="Text 2">
              <a:extLst>
                <a:ext uri="{FF2B5EF4-FFF2-40B4-BE49-F238E27FC236}">
                  <a16:creationId xmlns:a16="http://schemas.microsoft.com/office/drawing/2014/main" id="{C87C57C3-266F-420C-68D7-A05C4C1EFCAE}"/>
                </a:ext>
              </a:extLst>
            </p:cNvPr>
            <p:cNvSpPr/>
            <p:nvPr/>
          </p:nvSpPr>
          <p:spPr>
            <a:xfrm>
              <a:off x="320040" y="4828032"/>
              <a:ext cx="85039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Danala Group 8  ·  PRT661 Assessment 3  ·  22/24</a:t>
              </a:r>
              <a:endParaRPr lang="en-US" sz="1000"/>
            </a:p>
          </p:txBody>
        </p:sp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D57C23F0-B58E-9EA8-71CC-AE0C9865F53A}"/>
                </a:ext>
              </a:extLst>
            </p:cNvPr>
            <p:cNvSpPr/>
            <p:nvPr/>
          </p:nvSpPr>
          <p:spPr>
            <a:xfrm>
              <a:off x="365760" y="1280160"/>
              <a:ext cx="8412480" cy="2377440"/>
            </a:xfrm>
            <a:prstGeom prst="roundRect">
              <a:avLst>
                <a:gd name="adj" fmla="val 3077"/>
              </a:avLst>
            </a:prstGeom>
            <a:solidFill>
              <a:srgbClr val="141E3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041CA034-2FA0-75C1-F764-0B6008EC1CAF}"/>
                </a:ext>
              </a:extLst>
            </p:cNvPr>
            <p:cNvSpPr/>
            <p:nvPr/>
          </p:nvSpPr>
          <p:spPr>
            <a:xfrm>
              <a:off x="548640" y="1554480"/>
              <a:ext cx="80467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34D39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https://github.com/niteshS394811/S226-PRT661-DATA-SCIENCE-PRACTICE</a:t>
              </a:r>
              <a:endParaRPr lang="en-US" sz="1300"/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C5CC1837-4838-956D-049B-4B1A4325B04F}"/>
                </a:ext>
              </a:extLst>
            </p:cNvPr>
            <p:cNvSpPr/>
            <p:nvPr/>
          </p:nvSpPr>
          <p:spPr>
            <a:xfrm>
              <a:off x="548640" y="2286000"/>
              <a:ext cx="804672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Docker · Airflow · PostgreSQL · </a:t>
              </a:r>
              <a:r>
                <a:rPr lang="en-US" sz="1500" err="1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Streamlit</a:t>
              </a:r>
              <a:endParaRPr lang="en-US" sz="1500"/>
            </a:p>
            <a:p>
              <a:pPr marL="0" indent="0">
                <a:buNone/>
              </a:pPr>
              <a:r>
                <a:rPr lang="en-US" sz="1500" err="1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nem_strategic_history</a:t>
              </a:r>
              <a:r>
                <a:rPr lang="en-US" sz="1500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· </a:t>
              </a:r>
              <a:r>
                <a:rPr lang="en-US" sz="1500" err="1">
                  <a:solidFill>
                    <a:srgbClr val="F8FA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nem_operational_daily</a:t>
              </a:r>
              <a:endParaRPr lang="en-US" sz="1500"/>
            </a:p>
          </p:txBody>
        </p:sp>
      </p:grpSp>
    </p:spTree>
    <p:extLst>
      <p:ext uri="{BB962C8B-B14F-4D97-AF65-F5344CB8AC3E}">
        <p14:creationId xmlns:p14="http://schemas.microsoft.com/office/powerpoint/2010/main" val="26588820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AF6EB1-AA27-92E6-252C-7C5C8FC5EE6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23789" y="740515"/>
            <a:ext cx="8211620" cy="3398762"/>
          </a:xfrm>
        </p:spPr>
        <p:txBody>
          <a:bodyPr/>
          <a:lstStyle/>
          <a:p>
            <a:r>
              <a:rPr lang="en-AU" sz="1300">
                <a:latin typeface="+mn-lt"/>
              </a:rPr>
              <a:t>Australian Energy Market Operator. (n.d.). </a:t>
            </a:r>
            <a:r>
              <a:rPr lang="en-AU" sz="1300" err="1">
                <a:latin typeface="+mn-lt"/>
              </a:rPr>
              <a:t>NEMWeb</a:t>
            </a:r>
            <a:r>
              <a:rPr lang="en-AU" sz="1300">
                <a:latin typeface="+mn-lt"/>
              </a:rPr>
              <a:t> market data. https://</a:t>
            </a:r>
            <a:r>
              <a:rPr lang="en-AU" sz="1300" err="1">
                <a:latin typeface="+mn-lt"/>
              </a:rPr>
              <a:t>www.aemo.com.au</a:t>
            </a:r>
            <a:r>
              <a:rPr lang="en-AU" sz="1300">
                <a:latin typeface="+mn-lt"/>
              </a:rPr>
              <a:t>/energy-systems/electricity/national-electricity-market-</a:t>
            </a:r>
            <a:r>
              <a:rPr lang="en-AU" sz="1300" err="1">
                <a:latin typeface="+mn-lt"/>
              </a:rPr>
              <a:t>nem</a:t>
            </a:r>
            <a:r>
              <a:rPr lang="en-AU" sz="1300">
                <a:latin typeface="+mn-lt"/>
              </a:rPr>
              <a:t>/data-</a:t>
            </a:r>
            <a:r>
              <a:rPr lang="en-AU" sz="1300" err="1">
                <a:latin typeface="+mn-lt"/>
              </a:rPr>
              <a:t>nem</a:t>
            </a:r>
            <a:r>
              <a:rPr lang="en-AU" sz="1300">
                <a:latin typeface="+mn-lt"/>
              </a:rPr>
              <a:t>/market-data-</a:t>
            </a:r>
            <a:r>
              <a:rPr lang="en-AU" sz="1300" err="1">
                <a:latin typeface="+mn-lt"/>
              </a:rPr>
              <a:t>nemweb</a:t>
            </a:r>
            <a:endParaRPr lang="en-AU" sz="1300">
              <a:latin typeface="+mn-lt"/>
            </a:endParaRPr>
          </a:p>
          <a:p>
            <a:r>
              <a:rPr lang="en-AU" sz="1300">
                <a:latin typeface="+mn-lt"/>
              </a:rPr>
              <a:t>Australian Energy Market Operator. (n.d.). Market Management System (MMS) data. https://</a:t>
            </a:r>
            <a:r>
              <a:rPr lang="en-AU" sz="1300" err="1">
                <a:latin typeface="+mn-lt"/>
              </a:rPr>
              <a:t>www.aemo.com.au</a:t>
            </a:r>
            <a:r>
              <a:rPr lang="en-AU" sz="1300">
                <a:latin typeface="+mn-lt"/>
              </a:rPr>
              <a:t>/energy-systems/electricity/national-electricity-market-</a:t>
            </a:r>
            <a:r>
              <a:rPr lang="en-AU" sz="1300" err="1">
                <a:latin typeface="+mn-lt"/>
              </a:rPr>
              <a:t>nem</a:t>
            </a:r>
            <a:r>
              <a:rPr lang="en-AU" sz="1300">
                <a:latin typeface="+mn-lt"/>
              </a:rPr>
              <a:t>/data-</a:t>
            </a:r>
            <a:r>
              <a:rPr lang="en-AU" sz="1300" err="1">
                <a:latin typeface="+mn-lt"/>
              </a:rPr>
              <a:t>nem</a:t>
            </a:r>
            <a:r>
              <a:rPr lang="en-AU" sz="1300">
                <a:latin typeface="+mn-lt"/>
              </a:rPr>
              <a:t>/market-management-system-mms-data</a:t>
            </a:r>
          </a:p>
          <a:p>
            <a:r>
              <a:rPr lang="en-AU" sz="1300">
                <a:latin typeface="+mn-lt"/>
              </a:rPr>
              <a:t>Australian Energy Market Operator. (n.d.). Dispatch data. https://</a:t>
            </a:r>
            <a:r>
              <a:rPr lang="en-AU" sz="1300" err="1">
                <a:latin typeface="+mn-lt"/>
              </a:rPr>
              <a:t>www.aemo.com.au</a:t>
            </a:r>
            <a:r>
              <a:rPr lang="en-AU" sz="1300">
                <a:latin typeface="+mn-lt"/>
              </a:rPr>
              <a:t>/energy-systems/electricity/national-electricity-market-</a:t>
            </a:r>
            <a:r>
              <a:rPr lang="en-AU" sz="1300" err="1">
                <a:latin typeface="+mn-lt"/>
              </a:rPr>
              <a:t>nem</a:t>
            </a:r>
            <a:r>
              <a:rPr lang="en-AU" sz="1300">
                <a:latin typeface="+mn-lt"/>
              </a:rPr>
              <a:t>/data-</a:t>
            </a:r>
            <a:r>
              <a:rPr lang="en-AU" sz="1300" err="1">
                <a:latin typeface="+mn-lt"/>
              </a:rPr>
              <a:t>nem</a:t>
            </a:r>
            <a:r>
              <a:rPr lang="en-AU" sz="1300">
                <a:latin typeface="+mn-lt"/>
              </a:rPr>
              <a:t>/market-management-system-mms-data/dispatch</a:t>
            </a:r>
          </a:p>
          <a:p>
            <a:r>
              <a:rPr lang="en-AU" sz="1300">
                <a:latin typeface="+mn-lt"/>
              </a:rPr>
              <a:t>Apache Software Foundation. (n.d.). Apache Airflow documentation. https://</a:t>
            </a:r>
            <a:r>
              <a:rPr lang="en-AU" sz="1300" err="1">
                <a:latin typeface="+mn-lt"/>
              </a:rPr>
              <a:t>airflow.apache.org</a:t>
            </a:r>
            <a:r>
              <a:rPr lang="en-AU" sz="1300">
                <a:latin typeface="+mn-lt"/>
              </a:rPr>
              <a:t>/docs/</a:t>
            </a:r>
          </a:p>
          <a:p>
            <a:r>
              <a:rPr lang="en-AU" sz="1300">
                <a:latin typeface="+mn-lt"/>
              </a:rPr>
              <a:t>Google. (n.d.). TensorFlow documentation. https://</a:t>
            </a:r>
            <a:r>
              <a:rPr lang="en-AU" sz="1300" err="1">
                <a:latin typeface="+mn-lt"/>
              </a:rPr>
              <a:t>www.tensorflow.org</a:t>
            </a:r>
            <a:r>
              <a:rPr lang="en-AU" sz="1300">
                <a:latin typeface="+mn-lt"/>
              </a:rPr>
              <a:t>/</a:t>
            </a:r>
          </a:p>
          <a:p>
            <a:r>
              <a:rPr lang="en-AU" sz="1300">
                <a:latin typeface="+mn-lt"/>
              </a:rPr>
              <a:t>Pedregosa, F., </a:t>
            </a:r>
            <a:r>
              <a:rPr lang="en-AU" sz="1300" err="1">
                <a:latin typeface="+mn-lt"/>
              </a:rPr>
              <a:t>Varoquaux</a:t>
            </a:r>
            <a:r>
              <a:rPr lang="en-AU" sz="1300">
                <a:latin typeface="+mn-lt"/>
              </a:rPr>
              <a:t>, G., </a:t>
            </a:r>
            <a:r>
              <a:rPr lang="en-AU" sz="1300" err="1">
                <a:latin typeface="+mn-lt"/>
              </a:rPr>
              <a:t>Gramfort</a:t>
            </a:r>
            <a:r>
              <a:rPr lang="en-AU" sz="1300">
                <a:latin typeface="+mn-lt"/>
              </a:rPr>
              <a:t>, A., Michel, V., Thirion, B., Grisel, O., Blondel, M., </a:t>
            </a:r>
            <a:r>
              <a:rPr lang="en-AU" sz="1300" err="1">
                <a:latin typeface="+mn-lt"/>
              </a:rPr>
              <a:t>Prettenhofer</a:t>
            </a:r>
            <a:r>
              <a:rPr lang="en-AU" sz="1300">
                <a:latin typeface="+mn-lt"/>
              </a:rPr>
              <a:t>, P., Weiss, </a:t>
            </a:r>
            <a:r>
              <a:rPr lang="en-AU" sz="1300" err="1">
                <a:latin typeface="+mn-lt"/>
              </a:rPr>
              <a:t>R.,Dubourg</a:t>
            </a:r>
            <a:r>
              <a:rPr lang="en-AU" sz="1300">
                <a:latin typeface="+mn-lt"/>
              </a:rPr>
              <a:t>, V., Vanderplas, J., Passos, A., </a:t>
            </a:r>
            <a:r>
              <a:rPr lang="en-AU" sz="1300" err="1">
                <a:latin typeface="+mn-lt"/>
              </a:rPr>
              <a:t>Cournapeau</a:t>
            </a:r>
            <a:r>
              <a:rPr lang="en-AU" sz="1300">
                <a:latin typeface="+mn-lt"/>
              </a:rPr>
              <a:t>, D., Brucher, M., Perrot, M., &amp; Duchesnay, </a:t>
            </a:r>
            <a:r>
              <a:rPr lang="en-AU" sz="1300" err="1">
                <a:latin typeface="+mn-lt"/>
              </a:rPr>
              <a:t>É</a:t>
            </a:r>
            <a:r>
              <a:rPr lang="en-AU" sz="1300">
                <a:latin typeface="+mn-lt"/>
              </a:rPr>
              <a:t>. (2011). Scikit-learn:Machine learning in Python. Journal of Machine Learning Research, 12, 2825–2830.</a:t>
            </a:r>
          </a:p>
          <a:p>
            <a:r>
              <a:rPr lang="en-AU" sz="1300">
                <a:latin typeface="+mn-lt"/>
              </a:rPr>
              <a:t>Group 8. (2026). PRT661 Data Science Practice project repository. GitHub. https://</a:t>
            </a:r>
            <a:r>
              <a:rPr lang="en-AU" sz="1300" err="1">
                <a:latin typeface="+mn-lt"/>
              </a:rPr>
              <a:t>github.com</a:t>
            </a:r>
            <a:r>
              <a:rPr lang="en-AU" sz="1300">
                <a:latin typeface="+mn-lt"/>
              </a:rPr>
              <a:t>/niteshS394811/S226-PRT661-DATA-SCIENCE-PRACTICE</a:t>
            </a:r>
          </a:p>
          <a:p>
            <a:r>
              <a:rPr lang="en-AU" sz="1300">
                <a:latin typeface="+mn-lt"/>
              </a:rPr>
              <a:t>Group 8. (2026). PRT661 project board. Jira. https://shrestharoshan931-1785816864381.atlassian.net/</a:t>
            </a:r>
            <a:r>
              <a:rPr lang="en-AU" sz="1300" err="1">
                <a:latin typeface="+mn-lt"/>
              </a:rPr>
              <a:t>jira</a:t>
            </a:r>
            <a:r>
              <a:rPr lang="en-AU" sz="1300">
                <a:latin typeface="+mn-lt"/>
              </a:rPr>
              <a:t>/software/projects/KAN/list</a:t>
            </a:r>
          </a:p>
          <a:p>
            <a:r>
              <a:rPr lang="en-AU" sz="1300">
                <a:latin typeface="+mn-lt"/>
              </a:rPr>
              <a:t>UNSW Collaboration on Energy and Environmental Markets. (n.d.). NEMOSIS: NEM open-source information </a:t>
            </a:r>
            <a:r>
              <a:rPr lang="en-AU" sz="1300" err="1">
                <a:latin typeface="+mn-lt"/>
              </a:rPr>
              <a:t>service.GitHub</a:t>
            </a:r>
            <a:r>
              <a:rPr lang="en-AU" sz="1300">
                <a:latin typeface="+mn-lt"/>
              </a:rPr>
              <a:t>. https://</a:t>
            </a:r>
            <a:r>
              <a:rPr lang="en-AU" sz="1300" err="1">
                <a:latin typeface="+mn-lt"/>
              </a:rPr>
              <a:t>github.com</a:t>
            </a:r>
            <a:r>
              <a:rPr lang="en-AU" sz="1300">
                <a:latin typeface="+mn-lt"/>
              </a:rPr>
              <a:t>/UNSW-CEEM/NEMOSIS</a:t>
            </a:r>
          </a:p>
          <a:p>
            <a:endParaRPr lang="en-US" sz="1300">
              <a:latin typeface="+mn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6AF2D-9E3D-BC62-5A88-BDAD4FD34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591" y="213015"/>
            <a:ext cx="7362077" cy="789958"/>
          </a:xfrm>
        </p:spPr>
        <p:txBody>
          <a:bodyPr/>
          <a:lstStyle/>
          <a:p>
            <a:pPr algn="l"/>
            <a:r>
              <a:rPr lang="en-US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412994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Danala Group 8  ·  PRT661 Assessment 3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2262</Words>
  <Application>Microsoft Macintosh PowerPoint</Application>
  <PresentationFormat>On-screen Show (16:9)</PresentationFormat>
  <Paragraphs>290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PRT661 Assessment 3 – NEM Forecasting System</dc:title>
  <dc:subject>PptxGenJS Presentation</dc:subject>
  <dc:creator>Danala Group 8</dc:creator>
  <cp:lastModifiedBy>Nitesh Raj Chaudhary</cp:lastModifiedBy>
  <cp:revision>5</cp:revision>
  <dcterms:created xsi:type="dcterms:W3CDTF">2026-10-01T02:40:11Z</dcterms:created>
  <dcterms:modified xsi:type="dcterms:W3CDTF">2026-10-04T00:21:00Z</dcterms:modified>
</cp:coreProperties>
</file>